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oppins Bold" charset="1" panose="00000800000000000000"/>
      <p:regular r:id="rId24"/>
    </p:embeddedFont>
    <p:embeddedFont>
      <p:font typeface="Poppins Semi-Bold" charset="1" panose="00000700000000000000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  <p:embeddedFont>
      <p:font typeface="Poppins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GJcxCBn18.mp4" Type="http://schemas.openxmlformats.org/officeDocument/2006/relationships/video"/><Relationship Id="rId11" Target="../media/VAGJcxCBn18.mp4" Type="http://schemas.microsoft.com/office/2007/relationships/media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720724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28267" y="718565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460141" y="6548117"/>
            <a:ext cx="5069266" cy="5069266"/>
          </a:xfrm>
          <a:custGeom>
            <a:avLst/>
            <a:gdLst/>
            <a:ahLst/>
            <a:cxnLst/>
            <a:rect r="r" b="b" t="t" l="l"/>
            <a:pathLst>
              <a:path h="5069266" w="5069266">
                <a:moveTo>
                  <a:pt x="0" y="0"/>
                </a:moveTo>
                <a:lnTo>
                  <a:pt x="5069267" y="0"/>
                </a:lnTo>
                <a:lnTo>
                  <a:pt x="5069267" y="5069266"/>
                </a:lnTo>
                <a:lnTo>
                  <a:pt x="0" y="50692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93340" r="-93642" b="-30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21499" y="251567"/>
            <a:ext cx="3262317" cy="2153885"/>
          </a:xfrm>
          <a:custGeom>
            <a:avLst/>
            <a:gdLst/>
            <a:ahLst/>
            <a:cxnLst/>
            <a:rect r="r" b="b" t="t" l="l"/>
            <a:pathLst>
              <a:path h="2153885" w="3262317">
                <a:moveTo>
                  <a:pt x="0" y="0"/>
                </a:moveTo>
                <a:lnTo>
                  <a:pt x="3262317" y="0"/>
                </a:lnTo>
                <a:lnTo>
                  <a:pt x="3262317" y="2153885"/>
                </a:lnTo>
                <a:lnTo>
                  <a:pt x="0" y="215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>
                  <p14:trim st="0.0000" end="7876.6170"/>
                </p14:media>
              </p:ext>
            </p:extLst>
          </p:nvPr>
        </p:nvPicPr>
        <p:blipFill>
          <a:blip r:embed="rId9"/>
          <a:srcRect l="52082" t="24794" r="0" b="23867"/>
          <a:stretch>
            <a:fillRect/>
          </a:stretch>
        </p:blipFill>
        <p:spPr>
          <a:xfrm flipH="false" flipV="false" rot="0">
            <a:off x="12812325" y="5695858"/>
            <a:ext cx="5434166" cy="3318586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1509484"/>
            <a:ext cx="10806824" cy="3359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1"/>
              </a:lnSpc>
            </a:pPr>
            <a:r>
              <a:rPr lang="en-US" b="true" sz="9360" spc="-18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SALES</a:t>
            </a:r>
            <a:r>
              <a:rPr lang="en-US" b="true" sz="9360" spc="-18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PERFORMANCE ANALYSIS REPORT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981724"/>
            <a:ext cx="8115300" cy="70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7"/>
              </a:lnSpc>
            </a:pPr>
            <a:r>
              <a:rPr lang="en-US" sz="4244" spc="-8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JANUARY -DECEMBER 2020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785221"/>
            <a:ext cx="8115300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Presented byANJOUS BABAJIDE .G.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002217"/>
            <a:ext cx="10806824" cy="88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8"/>
              </a:lnSpc>
            </a:pPr>
            <a:r>
              <a:rPr lang="en-US" b="true" sz="6661" spc="-133">
                <a:solidFill>
                  <a:srgbClr val="343CED"/>
                </a:solidFill>
                <a:latin typeface="Poppins Bold"/>
                <a:ea typeface="Poppins Bold"/>
                <a:cs typeface="Poppins Bold"/>
                <a:sym typeface="Poppins Bold"/>
              </a:rPr>
              <a:t>GROWTH AND EXPANSION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34475" y="6034253"/>
            <a:ext cx="10883982" cy="10883982"/>
          </a:xfrm>
          <a:custGeom>
            <a:avLst/>
            <a:gdLst/>
            <a:ahLst/>
            <a:cxnLst/>
            <a:rect r="r" b="b" t="t" l="l"/>
            <a:pathLst>
              <a:path h="10883982" w="10883982">
                <a:moveTo>
                  <a:pt x="0" y="0"/>
                </a:moveTo>
                <a:lnTo>
                  <a:pt x="10883982" y="0"/>
                </a:lnTo>
                <a:lnTo>
                  <a:pt x="10883982" y="10883983"/>
                </a:lnTo>
                <a:lnTo>
                  <a:pt x="0" y="10883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67436" y="2173088"/>
            <a:ext cx="5116502" cy="5478528"/>
            <a:chOff x="0" y="0"/>
            <a:chExt cx="1347556" cy="1442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7556" cy="1442904"/>
            </a:xfrm>
            <a:custGeom>
              <a:avLst/>
              <a:gdLst/>
              <a:ahLst/>
              <a:cxnLst/>
              <a:rect r="r" b="b" t="t" l="l"/>
              <a:pathLst>
                <a:path h="1442904" w="1347556">
                  <a:moveTo>
                    <a:pt x="77170" y="0"/>
                  </a:moveTo>
                  <a:lnTo>
                    <a:pt x="1270387" y="0"/>
                  </a:lnTo>
                  <a:cubicBezTo>
                    <a:pt x="1290853" y="0"/>
                    <a:pt x="1310482" y="8130"/>
                    <a:pt x="1324954" y="22602"/>
                  </a:cubicBezTo>
                  <a:cubicBezTo>
                    <a:pt x="1339426" y="37075"/>
                    <a:pt x="1347556" y="56703"/>
                    <a:pt x="1347556" y="77170"/>
                  </a:cubicBezTo>
                  <a:lnTo>
                    <a:pt x="1347556" y="1365735"/>
                  </a:lnTo>
                  <a:cubicBezTo>
                    <a:pt x="1347556" y="1386202"/>
                    <a:pt x="1339426" y="1405830"/>
                    <a:pt x="1324954" y="1420302"/>
                  </a:cubicBezTo>
                  <a:cubicBezTo>
                    <a:pt x="1310482" y="1434774"/>
                    <a:pt x="1290853" y="1442904"/>
                    <a:pt x="1270387" y="1442904"/>
                  </a:cubicBezTo>
                  <a:lnTo>
                    <a:pt x="77170" y="1442904"/>
                  </a:lnTo>
                  <a:cubicBezTo>
                    <a:pt x="56703" y="1442904"/>
                    <a:pt x="37075" y="1434774"/>
                    <a:pt x="22602" y="1420302"/>
                  </a:cubicBezTo>
                  <a:cubicBezTo>
                    <a:pt x="8130" y="1405830"/>
                    <a:pt x="0" y="1386202"/>
                    <a:pt x="0" y="1365735"/>
                  </a:cubicBezTo>
                  <a:lnTo>
                    <a:pt x="0" y="77170"/>
                  </a:lnTo>
                  <a:cubicBezTo>
                    <a:pt x="0" y="56703"/>
                    <a:pt x="8130" y="37075"/>
                    <a:pt x="22602" y="22602"/>
                  </a:cubicBezTo>
                  <a:cubicBezTo>
                    <a:pt x="37075" y="8130"/>
                    <a:pt x="56703" y="0"/>
                    <a:pt x="771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347556" cy="145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81378" y="5143500"/>
            <a:ext cx="5116502" cy="5945253"/>
            <a:chOff x="0" y="0"/>
            <a:chExt cx="1347556" cy="15658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7556" cy="1565828"/>
            </a:xfrm>
            <a:custGeom>
              <a:avLst/>
              <a:gdLst/>
              <a:ahLst/>
              <a:cxnLst/>
              <a:rect r="r" b="b" t="t" l="l"/>
              <a:pathLst>
                <a:path h="1565828" w="1347556">
                  <a:moveTo>
                    <a:pt x="77170" y="0"/>
                  </a:moveTo>
                  <a:lnTo>
                    <a:pt x="1270387" y="0"/>
                  </a:lnTo>
                  <a:cubicBezTo>
                    <a:pt x="1290853" y="0"/>
                    <a:pt x="1310482" y="8130"/>
                    <a:pt x="1324954" y="22602"/>
                  </a:cubicBezTo>
                  <a:cubicBezTo>
                    <a:pt x="1339426" y="37075"/>
                    <a:pt x="1347556" y="56703"/>
                    <a:pt x="1347556" y="77170"/>
                  </a:cubicBezTo>
                  <a:lnTo>
                    <a:pt x="1347556" y="1488658"/>
                  </a:lnTo>
                  <a:cubicBezTo>
                    <a:pt x="1347556" y="1509125"/>
                    <a:pt x="1339426" y="1528753"/>
                    <a:pt x="1324954" y="1543225"/>
                  </a:cubicBezTo>
                  <a:cubicBezTo>
                    <a:pt x="1310482" y="1557698"/>
                    <a:pt x="1290853" y="1565828"/>
                    <a:pt x="1270387" y="1565828"/>
                  </a:cubicBezTo>
                  <a:lnTo>
                    <a:pt x="77170" y="1565828"/>
                  </a:lnTo>
                  <a:cubicBezTo>
                    <a:pt x="56703" y="1565828"/>
                    <a:pt x="37075" y="1557698"/>
                    <a:pt x="22602" y="1543225"/>
                  </a:cubicBezTo>
                  <a:cubicBezTo>
                    <a:pt x="8130" y="1528753"/>
                    <a:pt x="0" y="1509125"/>
                    <a:pt x="0" y="1488658"/>
                  </a:cubicBezTo>
                  <a:lnTo>
                    <a:pt x="0" y="77170"/>
                  </a:lnTo>
                  <a:cubicBezTo>
                    <a:pt x="0" y="56703"/>
                    <a:pt x="8130" y="37075"/>
                    <a:pt x="22602" y="22602"/>
                  </a:cubicBezTo>
                  <a:cubicBezTo>
                    <a:pt x="37075" y="8130"/>
                    <a:pt x="56703" y="0"/>
                    <a:pt x="771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347556" cy="15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3400" y="4152900"/>
            <a:ext cx="2286000" cy="2286000"/>
            <a:chOff x="0" y="0"/>
            <a:chExt cx="3048000" cy="304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048000" cy="2536825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3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82792" y="3455240"/>
            <a:ext cx="5574002" cy="5803060"/>
            <a:chOff x="0" y="0"/>
            <a:chExt cx="1468050" cy="15283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8050" cy="1528378"/>
            </a:xfrm>
            <a:custGeom>
              <a:avLst/>
              <a:gdLst/>
              <a:ahLst/>
              <a:cxnLst/>
              <a:rect r="r" b="b" t="t" l="l"/>
              <a:pathLst>
                <a:path h="1528378" w="1468050">
                  <a:moveTo>
                    <a:pt x="70836" y="0"/>
                  </a:moveTo>
                  <a:lnTo>
                    <a:pt x="1397214" y="0"/>
                  </a:lnTo>
                  <a:cubicBezTo>
                    <a:pt x="1436336" y="0"/>
                    <a:pt x="1468050" y="31714"/>
                    <a:pt x="1468050" y="70836"/>
                  </a:cubicBezTo>
                  <a:lnTo>
                    <a:pt x="1468050" y="1457542"/>
                  </a:lnTo>
                  <a:cubicBezTo>
                    <a:pt x="1468050" y="1476329"/>
                    <a:pt x="1460587" y="1494346"/>
                    <a:pt x="1447303" y="1507631"/>
                  </a:cubicBezTo>
                  <a:cubicBezTo>
                    <a:pt x="1434018" y="1520915"/>
                    <a:pt x="1416001" y="1528378"/>
                    <a:pt x="1397214" y="1528378"/>
                  </a:cubicBezTo>
                  <a:lnTo>
                    <a:pt x="70836" y="1528378"/>
                  </a:lnTo>
                  <a:cubicBezTo>
                    <a:pt x="52049" y="1528378"/>
                    <a:pt x="34032" y="1520915"/>
                    <a:pt x="20747" y="1507631"/>
                  </a:cubicBezTo>
                  <a:cubicBezTo>
                    <a:pt x="7463" y="1494346"/>
                    <a:pt x="0" y="1476329"/>
                    <a:pt x="0" y="1457542"/>
                  </a:cubicBezTo>
                  <a:lnTo>
                    <a:pt x="0" y="70836"/>
                  </a:lnTo>
                  <a:cubicBezTo>
                    <a:pt x="0" y="52049"/>
                    <a:pt x="7463" y="34032"/>
                    <a:pt x="20747" y="20747"/>
                  </a:cubicBezTo>
                  <a:cubicBezTo>
                    <a:pt x="34032" y="7463"/>
                    <a:pt x="52049" y="0"/>
                    <a:pt x="70836" y="0"/>
                  </a:cubicBezTo>
                  <a:close/>
                </a:path>
              </a:pathLst>
            </a:custGeom>
            <a:solidFill>
              <a:srgbClr val="343CE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468050" cy="1537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367031" indent="-183515" lvl="1">
                <a:lnSpc>
                  <a:spcPts val="1870"/>
                </a:lnSpc>
                <a:buFont typeface="Arial"/>
                <a:buChar char="•"/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95004" y="4140840"/>
            <a:ext cx="3540435" cy="77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BRANCHES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5004" y="5267231"/>
            <a:ext cx="272668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95004" y="5799996"/>
            <a:ext cx="2363283" cy="337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049" indent="-296524" lvl="1">
              <a:lnSpc>
                <a:spcPts val="3845"/>
              </a:lnSpc>
              <a:buFont typeface="Arial"/>
              <a:buChar char="•"/>
            </a:pPr>
            <a:r>
              <a:rPr lang="en-US" b="true" sz="27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LAGOS</a:t>
            </a:r>
          </a:p>
          <a:p>
            <a:pPr algn="l" marL="593049" indent="-296524" lvl="1">
              <a:lnSpc>
                <a:spcPts val="3845"/>
              </a:lnSpc>
              <a:buFont typeface="Arial"/>
              <a:buChar char="•"/>
            </a:pPr>
            <a:r>
              <a:rPr lang="en-US" b="true" sz="27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OSUN</a:t>
            </a:r>
          </a:p>
          <a:p>
            <a:pPr algn="l" marL="593049" indent="-296524" lvl="1">
              <a:lnSpc>
                <a:spcPts val="3845"/>
              </a:lnSpc>
              <a:buFont typeface="Arial"/>
              <a:buChar char="•"/>
            </a:pPr>
            <a:r>
              <a:rPr lang="en-US" b="true" sz="27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OGUN</a:t>
            </a:r>
          </a:p>
          <a:p>
            <a:pPr algn="l" marL="593049" indent="-296524" lvl="1">
              <a:lnSpc>
                <a:spcPts val="3845"/>
              </a:lnSpc>
              <a:buFont typeface="Arial"/>
              <a:buChar char="•"/>
            </a:pPr>
            <a:r>
              <a:rPr lang="en-US" b="true" sz="27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OYO</a:t>
            </a:r>
          </a:p>
          <a:p>
            <a:pPr algn="l" marL="593049" indent="-296524" lvl="1">
              <a:lnSpc>
                <a:spcPts val="3845"/>
              </a:lnSpc>
              <a:buFont typeface="Arial"/>
              <a:buChar char="•"/>
            </a:pPr>
            <a:r>
              <a:rPr lang="en-US" b="true" sz="27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ONDO</a:t>
            </a:r>
          </a:p>
          <a:p>
            <a:pPr algn="l" marL="593049" indent="-296524" lvl="1">
              <a:lnSpc>
                <a:spcPts val="3845"/>
              </a:lnSpc>
              <a:buFont typeface="Arial"/>
              <a:buChar char="•"/>
            </a:pPr>
            <a:r>
              <a:rPr lang="en-US" b="true" sz="27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EKITI</a:t>
            </a:r>
          </a:p>
          <a:p>
            <a:pPr algn="l">
              <a:lnSpc>
                <a:spcPts val="384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951143" y="2554187"/>
            <a:ext cx="2749116" cy="77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12571" y="3966312"/>
            <a:ext cx="22860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509399" y="3712415"/>
            <a:ext cx="557400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6482792" y="3480537"/>
            <a:ext cx="557400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816118" y="4361180"/>
            <a:ext cx="5574002" cy="409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BRANCHES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BRANDS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M0DEL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TRENDS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POPULATION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ECONOMIC POWER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67436" y="1306795"/>
            <a:ext cx="5287637" cy="63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6"/>
              </a:lnSpc>
            </a:pPr>
            <a:r>
              <a:rPr lang="en-US" sz="3776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99720" y="3351845"/>
            <a:ext cx="5268902" cy="291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2859"/>
              </a:lnSpc>
              <a:buFont typeface="Arial"/>
              <a:buChar char="•"/>
            </a:pPr>
            <a:r>
              <a:rPr lang="en-US" b="true" sz="2599" spc="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GROWTH AND </a:t>
            </a:r>
          </a:p>
          <a:p>
            <a:pPr algn="l">
              <a:lnSpc>
                <a:spcPts val="2859"/>
              </a:lnSpc>
            </a:pPr>
            <a:r>
              <a:rPr lang="en-US" b="true" sz="2599" spc="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EXPANSION</a:t>
            </a:r>
          </a:p>
          <a:p>
            <a:pPr algn="l" marL="561336" indent="-280668" lvl="1">
              <a:lnSpc>
                <a:spcPts val="2859"/>
              </a:lnSpc>
              <a:buFont typeface="Arial"/>
              <a:buChar char="•"/>
            </a:pPr>
            <a:r>
              <a:rPr lang="en-US" b="true" sz="2599" spc="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EKITI</a:t>
            </a:r>
          </a:p>
          <a:p>
            <a:pPr algn="l" marL="561336" indent="-280668" lvl="1">
              <a:lnSpc>
                <a:spcPts val="2859"/>
              </a:lnSpc>
              <a:buFont typeface="Arial"/>
              <a:buChar char="•"/>
            </a:pPr>
            <a:r>
              <a:rPr lang="en-US" b="true" sz="2599" spc="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LAGOS</a:t>
            </a:r>
          </a:p>
          <a:p>
            <a:pPr algn="l" marL="561336" indent="-280668" lvl="1">
              <a:lnSpc>
                <a:spcPts val="2859"/>
              </a:lnSpc>
              <a:buFont typeface="Arial"/>
              <a:buChar char="•"/>
            </a:pPr>
            <a:r>
              <a:rPr lang="en-US" b="true" sz="2599" spc="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BRANDS</a:t>
            </a:r>
          </a:p>
          <a:p>
            <a:pPr algn="l" marL="561336" indent="-280668" lvl="1">
              <a:lnSpc>
                <a:spcPts val="2859"/>
              </a:lnSpc>
              <a:buFont typeface="Arial"/>
              <a:buChar char="•"/>
            </a:pPr>
            <a:r>
              <a:rPr lang="en-US" b="true" sz="2599" spc="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</a:t>
            </a:r>
          </a:p>
          <a:p>
            <a:pPr algn="l" marL="561336" indent="-280668" lvl="1">
              <a:lnSpc>
                <a:spcPts val="2859"/>
              </a:lnSpc>
              <a:buFont typeface="Arial"/>
              <a:buChar char="•"/>
            </a:pPr>
            <a:r>
              <a:rPr lang="en-US" b="true" sz="2599" spc="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TRENDS</a:t>
            </a:r>
          </a:p>
          <a:p>
            <a:pPr algn="l" marL="561336" indent="-280668" lvl="1">
              <a:lnSpc>
                <a:spcPts val="2859"/>
              </a:lnSpc>
              <a:buFont typeface="Arial"/>
              <a:buChar char="•"/>
            </a:pPr>
            <a:r>
              <a:rPr lang="en-US" b="true" sz="2599" spc="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916635"/>
            <a:ext cx="3806740" cy="134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sz="7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5266" y="1725065"/>
            <a:ext cx="15237468" cy="3592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4"/>
              </a:lnSpc>
            </a:pPr>
            <a:r>
              <a:rPr lang="en-US" sz="58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number of cars sold across branches </a:t>
            </a:r>
            <a:r>
              <a:rPr lang="en-US" sz="588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 1491</a:t>
            </a:r>
          </a:p>
          <a:p>
            <a:pPr algn="ctr">
              <a:lnSpc>
                <a:spcPts val="1258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804682" y="5029200"/>
            <a:ext cx="10678636" cy="373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6"/>
              </a:lnSpc>
            </a:pPr>
            <a:r>
              <a:rPr lang="en-US" sz="61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Average monthly monthly growth rate is</a:t>
            </a:r>
          </a:p>
          <a:p>
            <a:pPr algn="ctr">
              <a:lnSpc>
                <a:spcPts val="13035"/>
              </a:lnSpc>
            </a:pPr>
            <a:r>
              <a:rPr lang="en-US" sz="93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4.27%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69749" y="1028700"/>
            <a:ext cx="11034878" cy="7252679"/>
          </a:xfrm>
          <a:custGeom>
            <a:avLst/>
            <a:gdLst/>
            <a:ahLst/>
            <a:cxnLst/>
            <a:rect r="r" b="b" t="t" l="l"/>
            <a:pathLst>
              <a:path h="7252679" w="11034878">
                <a:moveTo>
                  <a:pt x="0" y="0"/>
                </a:moveTo>
                <a:lnTo>
                  <a:pt x="11034878" y="0"/>
                </a:lnTo>
                <a:lnTo>
                  <a:pt x="11034878" y="7252679"/>
                </a:lnTo>
                <a:lnTo>
                  <a:pt x="0" y="7252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78975" y="8509889"/>
            <a:ext cx="80876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lagos- highest sales Ekiti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lowest sales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5152" y="2456342"/>
            <a:ext cx="4818214" cy="1293210"/>
            <a:chOff x="0" y="0"/>
            <a:chExt cx="1438600" cy="386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5152" y="3873006"/>
            <a:ext cx="4818214" cy="1293210"/>
            <a:chOff x="0" y="0"/>
            <a:chExt cx="1438600" cy="386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5152" y="5289669"/>
            <a:ext cx="4818214" cy="1293210"/>
            <a:chOff x="0" y="0"/>
            <a:chExt cx="1438600" cy="386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5152" y="6708909"/>
            <a:ext cx="4818214" cy="1293210"/>
            <a:chOff x="0" y="0"/>
            <a:chExt cx="1438600" cy="386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5152" y="904875"/>
            <a:ext cx="4818214" cy="1427642"/>
            <a:chOff x="0" y="0"/>
            <a:chExt cx="1438600" cy="426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8600" cy="426259"/>
            </a:xfrm>
            <a:custGeom>
              <a:avLst/>
              <a:gdLst/>
              <a:ahLst/>
              <a:cxnLst/>
              <a:rect r="r" b="b" t="t" l="l"/>
              <a:pathLst>
                <a:path h="426259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44312"/>
                  </a:lnTo>
                  <a:cubicBezTo>
                    <a:pt x="1438600" y="366046"/>
                    <a:pt x="1429967" y="386889"/>
                    <a:pt x="1414599" y="402257"/>
                  </a:cubicBezTo>
                  <a:cubicBezTo>
                    <a:pt x="1399231" y="417625"/>
                    <a:pt x="1378387" y="426259"/>
                    <a:pt x="1356654" y="426259"/>
                  </a:cubicBezTo>
                  <a:lnTo>
                    <a:pt x="81947" y="426259"/>
                  </a:lnTo>
                  <a:cubicBezTo>
                    <a:pt x="60213" y="426259"/>
                    <a:pt x="39370" y="417625"/>
                    <a:pt x="24002" y="402257"/>
                  </a:cubicBezTo>
                  <a:cubicBezTo>
                    <a:pt x="8634" y="386889"/>
                    <a:pt x="0" y="366046"/>
                    <a:pt x="0" y="344312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438600" cy="42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4199" spc="12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5152" y="8128150"/>
            <a:ext cx="4818214" cy="1293210"/>
            <a:chOff x="0" y="0"/>
            <a:chExt cx="1438600" cy="3861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04929" y="907973"/>
            <a:ext cx="6013590" cy="1323737"/>
            <a:chOff x="0" y="0"/>
            <a:chExt cx="1936447" cy="4262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04929" y="2346523"/>
            <a:ext cx="6013590" cy="1323737"/>
            <a:chOff x="0" y="0"/>
            <a:chExt cx="1936447" cy="4262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04929" y="3785072"/>
            <a:ext cx="6013590" cy="1323737"/>
            <a:chOff x="0" y="0"/>
            <a:chExt cx="1936447" cy="4262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4929" y="8100721"/>
            <a:ext cx="6013590" cy="1323737"/>
            <a:chOff x="0" y="0"/>
            <a:chExt cx="1936447" cy="4262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04929" y="5223622"/>
            <a:ext cx="6013590" cy="1323737"/>
            <a:chOff x="0" y="0"/>
            <a:chExt cx="1936447" cy="4262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04929" y="6662171"/>
            <a:ext cx="6013590" cy="1323737"/>
            <a:chOff x="0" y="0"/>
            <a:chExt cx="1936447" cy="4262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122740">
            <a:off x="9434967" y="-1068"/>
            <a:ext cx="9697415" cy="7078284"/>
          </a:xfrm>
          <a:custGeom>
            <a:avLst/>
            <a:gdLst/>
            <a:ahLst/>
            <a:cxnLst/>
            <a:rect r="r" b="b" t="t" l="l"/>
            <a:pathLst>
              <a:path h="7078284" w="9697415">
                <a:moveTo>
                  <a:pt x="0" y="0"/>
                </a:moveTo>
                <a:lnTo>
                  <a:pt x="9697415" y="0"/>
                </a:lnTo>
                <a:lnTo>
                  <a:pt x="9697415" y="7078285"/>
                </a:lnTo>
                <a:lnTo>
                  <a:pt x="0" y="7078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55152" y="1117999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</a:t>
            </a: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152" y="2602250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Sales Volume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5152" y="3946243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Growth Rate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152" y="5290237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No.1 Car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5152" y="6763854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55152" y="8237471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34893" y="1146574"/>
            <a:ext cx="481821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Osun State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34893" y="2585984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337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15972" y="3912347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3.69%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478396" y="5394559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Toyota Corolla 46%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478396" y="6914984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Female 83%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478396" y="8271658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26-30 yrs( 43%)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5152" y="2456342"/>
            <a:ext cx="4818214" cy="1293210"/>
            <a:chOff x="0" y="0"/>
            <a:chExt cx="1438600" cy="386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5152" y="3873006"/>
            <a:ext cx="4818214" cy="1293210"/>
            <a:chOff x="0" y="0"/>
            <a:chExt cx="1438600" cy="386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5152" y="5289669"/>
            <a:ext cx="4818214" cy="1293210"/>
            <a:chOff x="0" y="0"/>
            <a:chExt cx="1438600" cy="386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5152" y="6708909"/>
            <a:ext cx="4818214" cy="1293210"/>
            <a:chOff x="0" y="0"/>
            <a:chExt cx="1438600" cy="386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5152" y="904875"/>
            <a:ext cx="4818214" cy="1427642"/>
            <a:chOff x="0" y="0"/>
            <a:chExt cx="1438600" cy="426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8600" cy="426259"/>
            </a:xfrm>
            <a:custGeom>
              <a:avLst/>
              <a:gdLst/>
              <a:ahLst/>
              <a:cxnLst/>
              <a:rect r="r" b="b" t="t" l="l"/>
              <a:pathLst>
                <a:path h="426259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44312"/>
                  </a:lnTo>
                  <a:cubicBezTo>
                    <a:pt x="1438600" y="366046"/>
                    <a:pt x="1429967" y="386889"/>
                    <a:pt x="1414599" y="402257"/>
                  </a:cubicBezTo>
                  <a:cubicBezTo>
                    <a:pt x="1399231" y="417625"/>
                    <a:pt x="1378387" y="426259"/>
                    <a:pt x="1356654" y="426259"/>
                  </a:cubicBezTo>
                  <a:lnTo>
                    <a:pt x="81947" y="426259"/>
                  </a:lnTo>
                  <a:cubicBezTo>
                    <a:pt x="60213" y="426259"/>
                    <a:pt x="39370" y="417625"/>
                    <a:pt x="24002" y="402257"/>
                  </a:cubicBezTo>
                  <a:cubicBezTo>
                    <a:pt x="8634" y="386889"/>
                    <a:pt x="0" y="366046"/>
                    <a:pt x="0" y="344312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438600" cy="42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4199" spc="12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5152" y="8128150"/>
            <a:ext cx="4818214" cy="1293210"/>
            <a:chOff x="0" y="0"/>
            <a:chExt cx="1438600" cy="3861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04929" y="904875"/>
            <a:ext cx="6013590" cy="1326835"/>
            <a:chOff x="0" y="0"/>
            <a:chExt cx="1936447" cy="4272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6447" cy="427257"/>
            </a:xfrm>
            <a:custGeom>
              <a:avLst/>
              <a:gdLst/>
              <a:ahLst/>
              <a:cxnLst/>
              <a:rect r="r" b="b" t="t" l="l"/>
              <a:pathLst>
                <a:path h="427257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1599"/>
                  </a:lnTo>
                  <a:cubicBezTo>
                    <a:pt x="1936447" y="397861"/>
                    <a:pt x="1907052" y="427257"/>
                    <a:pt x="1870790" y="427257"/>
                  </a:cubicBezTo>
                  <a:lnTo>
                    <a:pt x="65658" y="427257"/>
                  </a:lnTo>
                  <a:cubicBezTo>
                    <a:pt x="29396" y="427257"/>
                    <a:pt x="0" y="397861"/>
                    <a:pt x="0" y="361599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936447" cy="436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04929" y="2346523"/>
            <a:ext cx="6013590" cy="1323737"/>
            <a:chOff x="0" y="0"/>
            <a:chExt cx="1936447" cy="4262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04929" y="3785072"/>
            <a:ext cx="6013590" cy="1323737"/>
            <a:chOff x="0" y="0"/>
            <a:chExt cx="1936447" cy="4262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4929" y="8100721"/>
            <a:ext cx="6013590" cy="1323737"/>
            <a:chOff x="0" y="0"/>
            <a:chExt cx="1936447" cy="4262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936447" cy="42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9"/>
                </a:lnSpc>
              </a:pPr>
              <a:r>
                <a:rPr lang="en-US" b="true" sz="3499" spc="104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31-35YEARS(39%)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04929" y="5223622"/>
            <a:ext cx="6013590" cy="1323737"/>
            <a:chOff x="0" y="0"/>
            <a:chExt cx="1936447" cy="4262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04929" y="6662171"/>
            <a:ext cx="6013590" cy="1323737"/>
            <a:chOff x="0" y="0"/>
            <a:chExt cx="1936447" cy="4262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122740">
            <a:off x="9434967" y="-1068"/>
            <a:ext cx="9697415" cy="7078284"/>
          </a:xfrm>
          <a:custGeom>
            <a:avLst/>
            <a:gdLst/>
            <a:ahLst/>
            <a:cxnLst/>
            <a:rect r="r" b="b" t="t" l="l"/>
            <a:pathLst>
              <a:path h="7078284" w="9697415">
                <a:moveTo>
                  <a:pt x="0" y="0"/>
                </a:moveTo>
                <a:lnTo>
                  <a:pt x="9697415" y="0"/>
                </a:lnTo>
                <a:lnTo>
                  <a:pt x="9697415" y="7078285"/>
                </a:lnTo>
                <a:lnTo>
                  <a:pt x="0" y="7078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55152" y="1117999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</a:t>
            </a: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152" y="2602250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Sales Volume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5152" y="3946243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Growth Rate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152" y="5290237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No.1 Car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5152" y="6763854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55152" y="8237471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34893" y="1146574"/>
            <a:ext cx="481821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lagos state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34893" y="2585984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361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15972" y="3912347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3.74%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478396" y="5394559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ford fiesta(45%)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478396" y="6914984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Female( 75%)</a:t>
            </a:r>
          </a:p>
        </p:txBody>
      </p:sp>
      <p:sp>
        <p:nvSpPr>
          <p:cNvPr name="AutoShape 50" id="50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5152" y="2456342"/>
            <a:ext cx="4818214" cy="1293210"/>
            <a:chOff x="0" y="0"/>
            <a:chExt cx="1438600" cy="386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5152" y="3873006"/>
            <a:ext cx="4818214" cy="1293210"/>
            <a:chOff x="0" y="0"/>
            <a:chExt cx="1438600" cy="386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5152" y="5289669"/>
            <a:ext cx="4818214" cy="1293210"/>
            <a:chOff x="0" y="0"/>
            <a:chExt cx="1438600" cy="386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5152" y="6708909"/>
            <a:ext cx="4818214" cy="1293210"/>
            <a:chOff x="0" y="0"/>
            <a:chExt cx="1438600" cy="386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5152" y="904875"/>
            <a:ext cx="4818214" cy="1427642"/>
            <a:chOff x="0" y="0"/>
            <a:chExt cx="1438600" cy="426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8600" cy="426259"/>
            </a:xfrm>
            <a:custGeom>
              <a:avLst/>
              <a:gdLst/>
              <a:ahLst/>
              <a:cxnLst/>
              <a:rect r="r" b="b" t="t" l="l"/>
              <a:pathLst>
                <a:path h="426259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44312"/>
                  </a:lnTo>
                  <a:cubicBezTo>
                    <a:pt x="1438600" y="366046"/>
                    <a:pt x="1429967" y="386889"/>
                    <a:pt x="1414599" y="402257"/>
                  </a:cubicBezTo>
                  <a:cubicBezTo>
                    <a:pt x="1399231" y="417625"/>
                    <a:pt x="1378387" y="426259"/>
                    <a:pt x="1356654" y="426259"/>
                  </a:cubicBezTo>
                  <a:lnTo>
                    <a:pt x="81947" y="426259"/>
                  </a:lnTo>
                  <a:cubicBezTo>
                    <a:pt x="60213" y="426259"/>
                    <a:pt x="39370" y="417625"/>
                    <a:pt x="24002" y="402257"/>
                  </a:cubicBezTo>
                  <a:cubicBezTo>
                    <a:pt x="8634" y="386889"/>
                    <a:pt x="0" y="366046"/>
                    <a:pt x="0" y="344312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438600" cy="42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4199" spc="12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5152" y="8128150"/>
            <a:ext cx="4818214" cy="1293210"/>
            <a:chOff x="0" y="0"/>
            <a:chExt cx="1438600" cy="3861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04929" y="907973"/>
            <a:ext cx="6013590" cy="1323737"/>
            <a:chOff x="0" y="0"/>
            <a:chExt cx="1936447" cy="4262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04929" y="2346523"/>
            <a:ext cx="6013590" cy="1323737"/>
            <a:chOff x="0" y="0"/>
            <a:chExt cx="1936447" cy="4262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04929" y="3785072"/>
            <a:ext cx="6013590" cy="1323737"/>
            <a:chOff x="0" y="0"/>
            <a:chExt cx="1936447" cy="4262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4929" y="8100721"/>
            <a:ext cx="6013590" cy="1323737"/>
            <a:chOff x="0" y="0"/>
            <a:chExt cx="1936447" cy="4262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04929" y="5223622"/>
            <a:ext cx="6013590" cy="1323737"/>
            <a:chOff x="0" y="0"/>
            <a:chExt cx="1936447" cy="4262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04929" y="6662171"/>
            <a:ext cx="6013590" cy="1323737"/>
            <a:chOff x="0" y="0"/>
            <a:chExt cx="1936447" cy="4262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122740">
            <a:off x="9434967" y="-1068"/>
            <a:ext cx="9697415" cy="7078284"/>
          </a:xfrm>
          <a:custGeom>
            <a:avLst/>
            <a:gdLst/>
            <a:ahLst/>
            <a:cxnLst/>
            <a:rect r="r" b="b" t="t" l="l"/>
            <a:pathLst>
              <a:path h="7078284" w="9697415">
                <a:moveTo>
                  <a:pt x="0" y="0"/>
                </a:moveTo>
                <a:lnTo>
                  <a:pt x="9697415" y="0"/>
                </a:lnTo>
                <a:lnTo>
                  <a:pt x="9697415" y="7078285"/>
                </a:lnTo>
                <a:lnTo>
                  <a:pt x="0" y="7078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55152" y="1117999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</a:t>
            </a: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152" y="2602250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Sales Volume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5152" y="3946243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Growth Rate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152" y="5290237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No.1 Car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5152" y="6763854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55152" y="8237471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34893" y="1146574"/>
            <a:ext cx="481821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Ogun State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34893" y="2585984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336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15972" y="3912347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3.70%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478396" y="5394559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honda civic 37%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478396" y="6914984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male( 87%)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478396" y="8271658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26-30 yrs( 39%)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5152" y="2456342"/>
            <a:ext cx="4818214" cy="1293210"/>
            <a:chOff x="0" y="0"/>
            <a:chExt cx="1438600" cy="386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5152" y="3873006"/>
            <a:ext cx="4818214" cy="1293210"/>
            <a:chOff x="0" y="0"/>
            <a:chExt cx="1438600" cy="386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5152" y="5289669"/>
            <a:ext cx="4818214" cy="1293210"/>
            <a:chOff x="0" y="0"/>
            <a:chExt cx="1438600" cy="386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5152" y="6708909"/>
            <a:ext cx="4818214" cy="1293210"/>
            <a:chOff x="0" y="0"/>
            <a:chExt cx="1438600" cy="386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5152" y="904875"/>
            <a:ext cx="4818214" cy="1427642"/>
            <a:chOff x="0" y="0"/>
            <a:chExt cx="1438600" cy="426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8600" cy="426259"/>
            </a:xfrm>
            <a:custGeom>
              <a:avLst/>
              <a:gdLst/>
              <a:ahLst/>
              <a:cxnLst/>
              <a:rect r="r" b="b" t="t" l="l"/>
              <a:pathLst>
                <a:path h="426259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44312"/>
                  </a:lnTo>
                  <a:cubicBezTo>
                    <a:pt x="1438600" y="366046"/>
                    <a:pt x="1429967" y="386889"/>
                    <a:pt x="1414599" y="402257"/>
                  </a:cubicBezTo>
                  <a:cubicBezTo>
                    <a:pt x="1399231" y="417625"/>
                    <a:pt x="1378387" y="426259"/>
                    <a:pt x="1356654" y="426259"/>
                  </a:cubicBezTo>
                  <a:lnTo>
                    <a:pt x="81947" y="426259"/>
                  </a:lnTo>
                  <a:cubicBezTo>
                    <a:pt x="60213" y="426259"/>
                    <a:pt x="39370" y="417625"/>
                    <a:pt x="24002" y="402257"/>
                  </a:cubicBezTo>
                  <a:cubicBezTo>
                    <a:pt x="8634" y="386889"/>
                    <a:pt x="0" y="366046"/>
                    <a:pt x="0" y="344312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438600" cy="42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4199" spc="12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5152" y="8128150"/>
            <a:ext cx="4818214" cy="1293210"/>
            <a:chOff x="0" y="0"/>
            <a:chExt cx="1438600" cy="3861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04929" y="907973"/>
            <a:ext cx="6013590" cy="1323737"/>
            <a:chOff x="0" y="0"/>
            <a:chExt cx="1936447" cy="4262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04929" y="2346523"/>
            <a:ext cx="6013590" cy="1323737"/>
            <a:chOff x="0" y="0"/>
            <a:chExt cx="1936447" cy="4262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04929" y="3785072"/>
            <a:ext cx="6013590" cy="1323737"/>
            <a:chOff x="0" y="0"/>
            <a:chExt cx="1936447" cy="4262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4929" y="8100721"/>
            <a:ext cx="6013590" cy="1323737"/>
            <a:chOff x="0" y="0"/>
            <a:chExt cx="1936447" cy="4262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04929" y="5223622"/>
            <a:ext cx="6013590" cy="1323737"/>
            <a:chOff x="0" y="0"/>
            <a:chExt cx="1936447" cy="4262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04929" y="6662171"/>
            <a:ext cx="6013590" cy="1323737"/>
            <a:chOff x="0" y="0"/>
            <a:chExt cx="1936447" cy="4262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122740">
            <a:off x="9434967" y="-1068"/>
            <a:ext cx="9697415" cy="7078284"/>
          </a:xfrm>
          <a:custGeom>
            <a:avLst/>
            <a:gdLst/>
            <a:ahLst/>
            <a:cxnLst/>
            <a:rect r="r" b="b" t="t" l="l"/>
            <a:pathLst>
              <a:path h="7078284" w="9697415">
                <a:moveTo>
                  <a:pt x="0" y="0"/>
                </a:moveTo>
                <a:lnTo>
                  <a:pt x="9697415" y="0"/>
                </a:lnTo>
                <a:lnTo>
                  <a:pt x="9697415" y="7078285"/>
                </a:lnTo>
                <a:lnTo>
                  <a:pt x="0" y="7078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55152" y="1117999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</a:t>
            </a: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152" y="2602250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Sales Volume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5152" y="3946243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Growth Rate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152" y="5290237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No.1 Car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5152" y="6763854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55152" y="8237471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34893" y="1146574"/>
            <a:ext cx="481821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oyo state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34893" y="2585984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224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15972" y="3912347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5.66%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478396" y="5394559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hyundai sonata (56%)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478396" y="6914984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male (65%)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478396" y="8271658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26-30 yrs( 36%)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5152" y="2456342"/>
            <a:ext cx="4818214" cy="1293210"/>
            <a:chOff x="0" y="0"/>
            <a:chExt cx="1438600" cy="386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5152" y="3873006"/>
            <a:ext cx="4818214" cy="1293210"/>
            <a:chOff x="0" y="0"/>
            <a:chExt cx="1438600" cy="386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5152" y="5289669"/>
            <a:ext cx="4818214" cy="1293210"/>
            <a:chOff x="0" y="0"/>
            <a:chExt cx="1438600" cy="386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5152" y="6708909"/>
            <a:ext cx="4818214" cy="1293210"/>
            <a:chOff x="0" y="0"/>
            <a:chExt cx="1438600" cy="386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5152" y="904875"/>
            <a:ext cx="4818214" cy="1427642"/>
            <a:chOff x="0" y="0"/>
            <a:chExt cx="1438600" cy="426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8600" cy="426259"/>
            </a:xfrm>
            <a:custGeom>
              <a:avLst/>
              <a:gdLst/>
              <a:ahLst/>
              <a:cxnLst/>
              <a:rect r="r" b="b" t="t" l="l"/>
              <a:pathLst>
                <a:path h="426259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44312"/>
                  </a:lnTo>
                  <a:cubicBezTo>
                    <a:pt x="1438600" y="366046"/>
                    <a:pt x="1429967" y="386889"/>
                    <a:pt x="1414599" y="402257"/>
                  </a:cubicBezTo>
                  <a:cubicBezTo>
                    <a:pt x="1399231" y="417625"/>
                    <a:pt x="1378387" y="426259"/>
                    <a:pt x="1356654" y="426259"/>
                  </a:cubicBezTo>
                  <a:lnTo>
                    <a:pt x="81947" y="426259"/>
                  </a:lnTo>
                  <a:cubicBezTo>
                    <a:pt x="60213" y="426259"/>
                    <a:pt x="39370" y="417625"/>
                    <a:pt x="24002" y="402257"/>
                  </a:cubicBezTo>
                  <a:cubicBezTo>
                    <a:pt x="8634" y="386889"/>
                    <a:pt x="0" y="366046"/>
                    <a:pt x="0" y="344312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438600" cy="42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4199" spc="12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5152" y="8128150"/>
            <a:ext cx="4818214" cy="1293210"/>
            <a:chOff x="0" y="0"/>
            <a:chExt cx="1438600" cy="3861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04929" y="907973"/>
            <a:ext cx="6013590" cy="1323737"/>
            <a:chOff x="0" y="0"/>
            <a:chExt cx="1936447" cy="4262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04929" y="2346523"/>
            <a:ext cx="6013590" cy="1323737"/>
            <a:chOff x="0" y="0"/>
            <a:chExt cx="1936447" cy="4262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04929" y="3785072"/>
            <a:ext cx="6013590" cy="1323737"/>
            <a:chOff x="0" y="0"/>
            <a:chExt cx="1936447" cy="4262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4929" y="8100721"/>
            <a:ext cx="6013590" cy="1323737"/>
            <a:chOff x="0" y="0"/>
            <a:chExt cx="1936447" cy="4262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04929" y="5223622"/>
            <a:ext cx="6013590" cy="1323737"/>
            <a:chOff x="0" y="0"/>
            <a:chExt cx="1936447" cy="4262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04929" y="6662171"/>
            <a:ext cx="6013590" cy="1323737"/>
            <a:chOff x="0" y="0"/>
            <a:chExt cx="1936447" cy="4262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122740">
            <a:off x="9434967" y="-1068"/>
            <a:ext cx="9697415" cy="7078284"/>
          </a:xfrm>
          <a:custGeom>
            <a:avLst/>
            <a:gdLst/>
            <a:ahLst/>
            <a:cxnLst/>
            <a:rect r="r" b="b" t="t" l="l"/>
            <a:pathLst>
              <a:path h="7078284" w="9697415">
                <a:moveTo>
                  <a:pt x="0" y="0"/>
                </a:moveTo>
                <a:lnTo>
                  <a:pt x="9697415" y="0"/>
                </a:lnTo>
                <a:lnTo>
                  <a:pt x="9697415" y="7078285"/>
                </a:lnTo>
                <a:lnTo>
                  <a:pt x="0" y="7078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55152" y="1117999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</a:t>
            </a: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152" y="2602250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Sales Volume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5152" y="3946243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Growth Rate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152" y="5290237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No.1 Car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5152" y="6763854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55152" y="8237471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34893" y="1146574"/>
            <a:ext cx="481821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ondo state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34893" y="2585984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214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15972" y="3912347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5.88%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478396" y="5394559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nissan rogue(69%)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478396" y="6914984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male(68%)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478396" y="8271658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36-40yrs(37%)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5152" y="2456342"/>
            <a:ext cx="4818214" cy="1293210"/>
            <a:chOff x="0" y="0"/>
            <a:chExt cx="1438600" cy="386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5152" y="3873006"/>
            <a:ext cx="4818214" cy="1293210"/>
            <a:chOff x="0" y="0"/>
            <a:chExt cx="1438600" cy="386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5152" y="5289669"/>
            <a:ext cx="4818214" cy="1293210"/>
            <a:chOff x="0" y="0"/>
            <a:chExt cx="1438600" cy="386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5152" y="6708909"/>
            <a:ext cx="4818214" cy="1293210"/>
            <a:chOff x="0" y="0"/>
            <a:chExt cx="1438600" cy="386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5152" y="904875"/>
            <a:ext cx="4818214" cy="1427642"/>
            <a:chOff x="0" y="0"/>
            <a:chExt cx="1438600" cy="426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8600" cy="426259"/>
            </a:xfrm>
            <a:custGeom>
              <a:avLst/>
              <a:gdLst/>
              <a:ahLst/>
              <a:cxnLst/>
              <a:rect r="r" b="b" t="t" l="l"/>
              <a:pathLst>
                <a:path h="426259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44312"/>
                  </a:lnTo>
                  <a:cubicBezTo>
                    <a:pt x="1438600" y="366046"/>
                    <a:pt x="1429967" y="386889"/>
                    <a:pt x="1414599" y="402257"/>
                  </a:cubicBezTo>
                  <a:cubicBezTo>
                    <a:pt x="1399231" y="417625"/>
                    <a:pt x="1378387" y="426259"/>
                    <a:pt x="1356654" y="426259"/>
                  </a:cubicBezTo>
                  <a:lnTo>
                    <a:pt x="81947" y="426259"/>
                  </a:lnTo>
                  <a:cubicBezTo>
                    <a:pt x="60213" y="426259"/>
                    <a:pt x="39370" y="417625"/>
                    <a:pt x="24002" y="402257"/>
                  </a:cubicBezTo>
                  <a:cubicBezTo>
                    <a:pt x="8634" y="386889"/>
                    <a:pt x="0" y="366046"/>
                    <a:pt x="0" y="344312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438600" cy="42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4199" spc="12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5152" y="8128150"/>
            <a:ext cx="4818214" cy="1293210"/>
            <a:chOff x="0" y="0"/>
            <a:chExt cx="1438600" cy="3861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600" cy="386121"/>
            </a:xfrm>
            <a:custGeom>
              <a:avLst/>
              <a:gdLst/>
              <a:ahLst/>
              <a:cxnLst/>
              <a:rect r="r" b="b" t="t" l="l"/>
              <a:pathLst>
                <a:path h="386121" w="1438600">
                  <a:moveTo>
                    <a:pt x="81947" y="0"/>
                  </a:moveTo>
                  <a:lnTo>
                    <a:pt x="1356654" y="0"/>
                  </a:lnTo>
                  <a:cubicBezTo>
                    <a:pt x="1378387" y="0"/>
                    <a:pt x="1399231" y="8634"/>
                    <a:pt x="1414599" y="24002"/>
                  </a:cubicBezTo>
                  <a:cubicBezTo>
                    <a:pt x="1429967" y="39370"/>
                    <a:pt x="1438600" y="60213"/>
                    <a:pt x="1438600" y="81947"/>
                  </a:cubicBezTo>
                  <a:lnTo>
                    <a:pt x="1438600" y="304174"/>
                  </a:lnTo>
                  <a:cubicBezTo>
                    <a:pt x="1438600" y="325907"/>
                    <a:pt x="1429967" y="346751"/>
                    <a:pt x="1414599" y="362119"/>
                  </a:cubicBezTo>
                  <a:cubicBezTo>
                    <a:pt x="1399231" y="377487"/>
                    <a:pt x="1378387" y="386121"/>
                    <a:pt x="1356654" y="386121"/>
                  </a:cubicBezTo>
                  <a:lnTo>
                    <a:pt x="81947" y="386121"/>
                  </a:lnTo>
                  <a:cubicBezTo>
                    <a:pt x="60213" y="386121"/>
                    <a:pt x="39370" y="377487"/>
                    <a:pt x="24002" y="362119"/>
                  </a:cubicBezTo>
                  <a:cubicBezTo>
                    <a:pt x="8634" y="346751"/>
                    <a:pt x="0" y="325907"/>
                    <a:pt x="0" y="304174"/>
                  </a:cubicBezTo>
                  <a:lnTo>
                    <a:pt x="0" y="81947"/>
                  </a:lnTo>
                  <a:cubicBezTo>
                    <a:pt x="0" y="60213"/>
                    <a:pt x="8634" y="39370"/>
                    <a:pt x="24002" y="24002"/>
                  </a:cubicBezTo>
                  <a:cubicBezTo>
                    <a:pt x="39370" y="8634"/>
                    <a:pt x="60213" y="0"/>
                    <a:pt x="819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438600" cy="39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04929" y="907973"/>
            <a:ext cx="6013590" cy="1323737"/>
            <a:chOff x="0" y="0"/>
            <a:chExt cx="1936447" cy="4262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04929" y="2346523"/>
            <a:ext cx="6013590" cy="1323737"/>
            <a:chOff x="0" y="0"/>
            <a:chExt cx="1936447" cy="4262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04929" y="3785072"/>
            <a:ext cx="6013590" cy="1323737"/>
            <a:chOff x="0" y="0"/>
            <a:chExt cx="1936447" cy="4262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4929" y="8100721"/>
            <a:ext cx="6013590" cy="1323737"/>
            <a:chOff x="0" y="0"/>
            <a:chExt cx="1936447" cy="4262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04929" y="5223622"/>
            <a:ext cx="6013590" cy="1323737"/>
            <a:chOff x="0" y="0"/>
            <a:chExt cx="1936447" cy="4262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04929" y="6662171"/>
            <a:ext cx="6013590" cy="1323737"/>
            <a:chOff x="0" y="0"/>
            <a:chExt cx="1936447" cy="4262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36447" cy="426259"/>
            </a:xfrm>
            <a:custGeom>
              <a:avLst/>
              <a:gdLst/>
              <a:ahLst/>
              <a:cxnLst/>
              <a:rect r="r" b="b" t="t" l="l"/>
              <a:pathLst>
                <a:path h="426259" w="1936447">
                  <a:moveTo>
                    <a:pt x="65658" y="0"/>
                  </a:moveTo>
                  <a:lnTo>
                    <a:pt x="1870790" y="0"/>
                  </a:lnTo>
                  <a:cubicBezTo>
                    <a:pt x="1907052" y="0"/>
                    <a:pt x="1936447" y="29396"/>
                    <a:pt x="1936447" y="65658"/>
                  </a:cubicBezTo>
                  <a:lnTo>
                    <a:pt x="1936447" y="360601"/>
                  </a:lnTo>
                  <a:cubicBezTo>
                    <a:pt x="1936447" y="396863"/>
                    <a:pt x="1907052" y="426259"/>
                    <a:pt x="1870790" y="426259"/>
                  </a:cubicBezTo>
                  <a:lnTo>
                    <a:pt x="65658" y="426259"/>
                  </a:lnTo>
                  <a:cubicBezTo>
                    <a:pt x="29396" y="426259"/>
                    <a:pt x="0" y="396863"/>
                    <a:pt x="0" y="360601"/>
                  </a:cubicBezTo>
                  <a:lnTo>
                    <a:pt x="0" y="65658"/>
                  </a:lnTo>
                  <a:cubicBezTo>
                    <a:pt x="0" y="29396"/>
                    <a:pt x="29396" y="0"/>
                    <a:pt x="65658" y="0"/>
                  </a:cubicBezTo>
                  <a:close/>
                </a:path>
              </a:pathLst>
            </a:custGeom>
            <a:solidFill>
              <a:srgbClr val="D8FD4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936447" cy="43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122740">
            <a:off x="9434967" y="-1068"/>
            <a:ext cx="9697415" cy="7078284"/>
          </a:xfrm>
          <a:custGeom>
            <a:avLst/>
            <a:gdLst/>
            <a:ahLst/>
            <a:cxnLst/>
            <a:rect r="r" b="b" t="t" l="l"/>
            <a:pathLst>
              <a:path h="7078284" w="9697415">
                <a:moveTo>
                  <a:pt x="0" y="0"/>
                </a:moveTo>
                <a:lnTo>
                  <a:pt x="9697415" y="0"/>
                </a:lnTo>
                <a:lnTo>
                  <a:pt x="9697415" y="7078285"/>
                </a:lnTo>
                <a:lnTo>
                  <a:pt x="0" y="7078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55152" y="1117999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</a:t>
            </a: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152" y="2602250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Sales Volume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5152" y="3946243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Growth Rate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152" y="5290237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No.1 Car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5152" y="6763854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55152" y="8237471"/>
            <a:ext cx="48182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34893" y="1146574"/>
            <a:ext cx="481821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Ekiti STATE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34893" y="2585984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15972" y="3912347"/>
            <a:ext cx="319688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0.00%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478396" y="5394559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NISSAN ROGUE(69%)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478396" y="6914984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MALE(88%)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478396" y="8271658"/>
            <a:ext cx="566665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3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31-35YRS(65%)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028700"/>
          <a:ext cx="16230600" cy="82296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  <a:gridCol w="5410200"/>
              </a:tblGrid>
              <a:tr h="1175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175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175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175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175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175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175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261030" y="1187141"/>
            <a:ext cx="475208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Row Labels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36834" y="1187141"/>
            <a:ext cx="581433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%Filtered Branches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72516" y="1187141"/>
            <a:ext cx="475208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Row Labels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1030" y="2461206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Lagos State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12405" y="2461206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361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12405" y="3632146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337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2405" y="4819967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336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12405" y="6230884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12405" y="7164017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216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12405" y="8354007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1,474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88419" y="3632146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22.6%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8419" y="2480256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24.2%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88419" y="4819967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22.5%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88419" y="5974027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15.0%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88419" y="7164017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14.5%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88419" y="8315907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98.9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1030" y="3632146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Osun State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1030" y="4803086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Ogun State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1030" y="5974027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Oyo  State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1030" y="7144967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Ondo State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1030" y="8315907"/>
            <a:ext cx="44619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Grand Total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F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86627" y="2810428"/>
            <a:ext cx="11502879" cy="6447872"/>
          </a:xfrm>
          <a:custGeom>
            <a:avLst/>
            <a:gdLst/>
            <a:ahLst/>
            <a:cxnLst/>
            <a:rect r="r" b="b" t="t" l="l"/>
            <a:pathLst>
              <a:path h="6447872" w="11502879">
                <a:moveTo>
                  <a:pt x="0" y="0"/>
                </a:moveTo>
                <a:lnTo>
                  <a:pt x="11502879" y="0"/>
                </a:lnTo>
                <a:lnTo>
                  <a:pt x="11502879" y="6447872"/>
                </a:lnTo>
                <a:lnTo>
                  <a:pt x="0" y="6447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14692"/>
            <a:ext cx="16230600" cy="1200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9"/>
              </a:lnSpc>
            </a:pPr>
            <a:r>
              <a:rPr lang="en-US" sz="346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can se from the previous slide that ekiti is responsible for almost zero sales and shoulde be closed down it also stopped selling from april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F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54229" y="1182237"/>
            <a:ext cx="9680310" cy="6689211"/>
          </a:xfrm>
          <a:custGeom>
            <a:avLst/>
            <a:gdLst/>
            <a:ahLst/>
            <a:cxnLst/>
            <a:rect r="r" b="b" t="t" l="l"/>
            <a:pathLst>
              <a:path h="6689211" w="9680310">
                <a:moveTo>
                  <a:pt x="0" y="0"/>
                </a:moveTo>
                <a:lnTo>
                  <a:pt x="9680310" y="0"/>
                </a:lnTo>
                <a:lnTo>
                  <a:pt x="9680310" y="6689211"/>
                </a:lnTo>
                <a:lnTo>
                  <a:pt x="0" y="6689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79" r="0" b="-317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4229" y="8390255"/>
            <a:ext cx="9680310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EKITI SALES WAS EXTREMELY LOW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F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9742" y="1203724"/>
            <a:ext cx="11489366" cy="6974326"/>
          </a:xfrm>
          <a:custGeom>
            <a:avLst/>
            <a:gdLst/>
            <a:ahLst/>
            <a:cxnLst/>
            <a:rect r="r" b="b" t="t" l="l"/>
            <a:pathLst>
              <a:path h="6974326" w="11489366">
                <a:moveTo>
                  <a:pt x="0" y="0"/>
                </a:moveTo>
                <a:lnTo>
                  <a:pt x="11489366" y="0"/>
                </a:lnTo>
                <a:lnTo>
                  <a:pt x="11489366" y="6974326"/>
                </a:lnTo>
                <a:lnTo>
                  <a:pt x="0" y="6974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5" t="0" r="-49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00777" y="4819967"/>
            <a:ext cx="108644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Body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98171" y="8436571"/>
            <a:ext cx="1112191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Lagos has more income and population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D8F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867319" y="1403119"/>
          <a:ext cx="13772954" cy="9182100"/>
        </p:xfrm>
        <a:graphic>
          <a:graphicData uri="http://schemas.openxmlformats.org/drawingml/2006/table">
            <a:tbl>
              <a:tblPr/>
              <a:tblGrid>
                <a:gridCol w="4590985"/>
                <a:gridCol w="4590985"/>
                <a:gridCol w="4590985"/>
              </a:tblGrid>
              <a:tr h="13707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ROW LABELS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TOTAL QTY SOLD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%FILTERED BRAND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93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24.7%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93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TOYOTA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24.3%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93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HONDA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13.6%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93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NISSAN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13.5%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93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HYUNDAI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198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13.3%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645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739"/>
                        </a:lnSpc>
                        <a:defRPr/>
                      </a:pPr>
                      <a:r>
                        <a:rPr lang="en-US" sz="40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GRAND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1,332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89.3</a:t>
                      </a:r>
                      <a:r>
                        <a:rPr lang="en-US" sz="3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260232" y="141605"/>
            <a:ext cx="1284505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90% of cars  sold came from 5 brands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8F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624621"/>
            <a:ext cx="9144000" cy="111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4"/>
              </a:lnSpc>
            </a:pPr>
            <a:r>
              <a:rPr lang="en-US" sz="653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T0P 5 BRANDS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87770" y="624621"/>
            <a:ext cx="8569105" cy="111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BOTTOM 4 BRANDS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817533"/>
            <a:ext cx="8912502" cy="6018946"/>
            <a:chOff x="0" y="0"/>
            <a:chExt cx="11883336" cy="802526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454041" y="1112943"/>
              <a:ext cx="4172148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TOYOTA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703334" y="2321137"/>
              <a:ext cx="3673563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HONDA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606298" y="3529330"/>
              <a:ext cx="4119198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NISSAN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703334" y="-95250"/>
              <a:ext cx="2981287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606298" y="4887224"/>
              <a:ext cx="4805771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HYUNDAI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74217"/>
              <a:ext cx="11883336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 M0DELS PER BRANCH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18309" y="2817533"/>
            <a:ext cx="7338566" cy="5969671"/>
            <a:chOff x="0" y="0"/>
            <a:chExt cx="9784754" cy="795956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409991" y="-95250"/>
              <a:ext cx="5737607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CHEVROLET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54329" y="2849034"/>
              <a:ext cx="1966070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KIA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09991" y="1265343"/>
              <a:ext cx="5737607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MERCEDES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9991" y="4359327"/>
              <a:ext cx="7112528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VOLKSWAGEN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939917"/>
              <a:ext cx="9784754" cy="1019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11"/>
                </a:lnSpc>
              </a:pPr>
              <a:r>
                <a:rPr lang="en-US" sz="457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 MODEL PER BRANCH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6993" y="2136721"/>
            <a:ext cx="11134013" cy="6013558"/>
          </a:xfrm>
          <a:custGeom>
            <a:avLst/>
            <a:gdLst/>
            <a:ahLst/>
            <a:cxnLst/>
            <a:rect r="r" b="b" t="t" l="l"/>
            <a:pathLst>
              <a:path h="6013558" w="11134013">
                <a:moveTo>
                  <a:pt x="0" y="0"/>
                </a:moveTo>
                <a:lnTo>
                  <a:pt x="11134014" y="0"/>
                </a:lnTo>
                <a:lnTo>
                  <a:pt x="11134014" y="6013558"/>
                </a:lnTo>
                <a:lnTo>
                  <a:pt x="0" y="6013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30022" y="1533311"/>
            <a:ext cx="12533384" cy="6769368"/>
          </a:xfrm>
          <a:custGeom>
            <a:avLst/>
            <a:gdLst/>
            <a:ahLst/>
            <a:cxnLst/>
            <a:rect r="r" b="b" t="t" l="l"/>
            <a:pathLst>
              <a:path h="6769368" w="12533384">
                <a:moveTo>
                  <a:pt x="0" y="0"/>
                </a:moveTo>
                <a:lnTo>
                  <a:pt x="12533385" y="0"/>
                </a:lnTo>
                <a:lnTo>
                  <a:pt x="12533385" y="6769368"/>
                </a:lnTo>
                <a:lnTo>
                  <a:pt x="0" y="6769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53654" y="8901542"/>
            <a:ext cx="1253338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BRANCHES HAD SIMILAR TRENDS IN JUNE,JULY AUGUST AND DECEMBER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F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01835" y="6883745"/>
            <a:ext cx="2773663" cy="1884319"/>
          </a:xfrm>
          <a:custGeom>
            <a:avLst/>
            <a:gdLst/>
            <a:ahLst/>
            <a:cxnLst/>
            <a:rect r="r" b="b" t="t" l="l"/>
            <a:pathLst>
              <a:path h="1884319" w="2773663">
                <a:moveTo>
                  <a:pt x="0" y="0"/>
                </a:moveTo>
                <a:lnTo>
                  <a:pt x="2773663" y="0"/>
                </a:lnTo>
                <a:lnTo>
                  <a:pt x="2773663" y="1884319"/>
                </a:lnTo>
                <a:lnTo>
                  <a:pt x="0" y="1884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27086" y="508006"/>
            <a:ext cx="12274748" cy="93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SOLUTIONS AND RECOMMDATIONS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68905" y="2342833"/>
            <a:ext cx="13757285" cy="2415929"/>
            <a:chOff x="0" y="0"/>
            <a:chExt cx="18343047" cy="322123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5690889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More branches should be open in lagos,ph or kano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00457"/>
              <a:ext cx="8854712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Ekiti should be shut down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469611"/>
              <a:ext cx="18343047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There should be atleast 3 brands and models in each branch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54034" y="6877413"/>
            <a:ext cx="14025732" cy="189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5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as much as gender played no specific role the most act age range is 26-48 yrs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DAGswJyK530</dc:identifier>
  <dcterms:modified xsi:type="dcterms:W3CDTF">2011-08-01T06:04:30Z</dcterms:modified>
  <cp:revision>1</cp:revision>
  <dc:title>Data presentation by Anjous</dc:title>
</cp:coreProperties>
</file>