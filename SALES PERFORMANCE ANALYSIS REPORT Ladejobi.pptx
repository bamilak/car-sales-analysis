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[Cleaned data edited.xlsx]Internal  insight!PivotTable4</c:name>
    <c:fmtId val="8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'Internal  insight'!$B$47:$B$48</c:f>
              <c:strCache>
                <c:ptCount val="1"/>
                <c:pt idx="0">
                  <c:v>Ekiti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'Internal  insight'!$A$49:$A$52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</c:strCache>
            </c:strRef>
          </c:cat>
          <c:val>
            <c:numRef>
              <c:f>'Internal  insight'!$B$49:$B$52</c:f>
              <c:numCache>
                <c:formatCode>General</c:formatCode>
                <c:ptCount val="3"/>
                <c:pt idx="0">
                  <c:v>6</c:v>
                </c:pt>
                <c:pt idx="1">
                  <c:v>5</c:v>
                </c:pt>
                <c:pt idx="2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6E-42E6-9612-93A855ED3BCD}"/>
            </c:ext>
          </c:extLst>
        </c:ser>
        <c:ser>
          <c:idx val="1"/>
          <c:order val="1"/>
          <c:tx>
            <c:strRef>
              <c:f>'Internal  insight'!$C$47:$C$48</c:f>
              <c:strCache>
                <c:ptCount val="1"/>
                <c:pt idx="0">
                  <c:v>Lagos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'Internal  insight'!$A$49:$A$52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</c:strCache>
            </c:strRef>
          </c:cat>
          <c:val>
            <c:numRef>
              <c:f>'Internal  insight'!$C$49:$C$52</c:f>
              <c:numCache>
                <c:formatCode>General</c:formatCode>
                <c:ptCount val="3"/>
                <c:pt idx="0">
                  <c:v>16</c:v>
                </c:pt>
                <c:pt idx="1">
                  <c:v>23</c:v>
                </c:pt>
                <c:pt idx="2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76E-42E6-9612-93A855ED3BCD}"/>
            </c:ext>
          </c:extLst>
        </c:ser>
        <c:ser>
          <c:idx val="2"/>
          <c:order val="2"/>
          <c:tx>
            <c:strRef>
              <c:f>'Internal  insight'!$D$47:$D$48</c:f>
              <c:strCache>
                <c:ptCount val="1"/>
                <c:pt idx="0">
                  <c:v>Ogun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'Internal  insight'!$A$49:$A$52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</c:strCache>
            </c:strRef>
          </c:cat>
          <c:val>
            <c:numRef>
              <c:f>'Internal  insight'!$D$49:$D$52</c:f>
              <c:numCache>
                <c:formatCode>General</c:formatCode>
                <c:ptCount val="3"/>
                <c:pt idx="0">
                  <c:v>15</c:v>
                </c:pt>
                <c:pt idx="1">
                  <c:v>17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76E-42E6-9612-93A855ED3BCD}"/>
            </c:ext>
          </c:extLst>
        </c:ser>
        <c:ser>
          <c:idx val="3"/>
          <c:order val="3"/>
          <c:tx>
            <c:strRef>
              <c:f>'Internal  insight'!$E$47:$E$48</c:f>
              <c:strCache>
                <c:ptCount val="1"/>
                <c:pt idx="0">
                  <c:v>Ondo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'Internal  insight'!$A$49:$A$52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</c:strCache>
            </c:strRef>
          </c:cat>
          <c:val>
            <c:numRef>
              <c:f>'Internal  insight'!$E$49:$E$52</c:f>
              <c:numCache>
                <c:formatCode>General</c:formatCode>
                <c:ptCount val="3"/>
                <c:pt idx="0">
                  <c:v>6</c:v>
                </c:pt>
                <c:pt idx="1">
                  <c:v>9</c:v>
                </c:pt>
                <c:pt idx="2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76E-42E6-9612-93A855ED3BCD}"/>
            </c:ext>
          </c:extLst>
        </c:ser>
        <c:ser>
          <c:idx val="4"/>
          <c:order val="4"/>
          <c:tx>
            <c:strRef>
              <c:f>'Internal  insight'!$F$47:$F$48</c:f>
              <c:strCache>
                <c:ptCount val="1"/>
                <c:pt idx="0">
                  <c:v>Osun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'Internal  insight'!$A$49:$A$52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</c:strCache>
            </c:strRef>
          </c:cat>
          <c:val>
            <c:numRef>
              <c:f>'Internal  insight'!$F$49:$F$52</c:f>
              <c:numCache>
                <c:formatCode>General</c:formatCode>
                <c:ptCount val="3"/>
                <c:pt idx="0">
                  <c:v>17</c:v>
                </c:pt>
                <c:pt idx="1">
                  <c:v>16</c:v>
                </c:pt>
                <c:pt idx="2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76E-42E6-9612-93A855ED3BCD}"/>
            </c:ext>
          </c:extLst>
        </c:ser>
        <c:ser>
          <c:idx val="5"/>
          <c:order val="5"/>
          <c:tx>
            <c:strRef>
              <c:f>'Internal  insight'!$G$47:$G$48</c:f>
              <c:strCache>
                <c:ptCount val="1"/>
                <c:pt idx="0">
                  <c:v>Oyo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'Internal  insight'!$A$49:$A$52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</c:strCache>
            </c:strRef>
          </c:cat>
          <c:val>
            <c:numRef>
              <c:f>'Internal  insight'!$G$49:$G$52</c:f>
              <c:numCache>
                <c:formatCode>General</c:formatCode>
                <c:ptCount val="3"/>
                <c:pt idx="0">
                  <c:v>10</c:v>
                </c:pt>
                <c:pt idx="1">
                  <c:v>10</c:v>
                </c:pt>
                <c:pt idx="2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76E-42E6-9612-93A855ED3B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5630767"/>
        <c:axId val="95640367"/>
      </c:barChart>
      <c:catAx>
        <c:axId val="956307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640367"/>
        <c:crosses val="autoZero"/>
        <c:auto val="1"/>
        <c:lblAlgn val="ctr"/>
        <c:lblOffset val="100"/>
        <c:noMultiLvlLbl val="0"/>
      </c:catAx>
      <c:valAx>
        <c:axId val="9564036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956307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[Cleaned data edited.xlsx]External insight!PivotTable10</c:name>
    <c:fmtId val="3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'External insight'!$B$3</c:f>
              <c:strCache>
                <c:ptCount val="1"/>
                <c:pt idx="0">
                  <c:v>Sales Volume (%)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'External insight'!$A$4:$A$10</c:f>
              <c:strCache>
                <c:ptCount val="6"/>
                <c:pt idx="0">
                  <c:v>Lagos</c:v>
                </c:pt>
                <c:pt idx="1">
                  <c:v>Osun</c:v>
                </c:pt>
                <c:pt idx="2">
                  <c:v>Ogun</c:v>
                </c:pt>
                <c:pt idx="3">
                  <c:v>Oyo</c:v>
                </c:pt>
                <c:pt idx="4">
                  <c:v>Ondo</c:v>
                </c:pt>
                <c:pt idx="5">
                  <c:v>Ekiti</c:v>
                </c:pt>
              </c:strCache>
            </c:strRef>
          </c:cat>
          <c:val>
            <c:numRef>
              <c:f>'External insight'!$B$4:$B$10</c:f>
              <c:numCache>
                <c:formatCode>0.00%</c:formatCode>
                <c:ptCount val="6"/>
                <c:pt idx="0">
                  <c:v>0.2421193829644534</c:v>
                </c:pt>
                <c:pt idx="1">
                  <c:v>0.22602280348759221</c:v>
                </c:pt>
                <c:pt idx="2">
                  <c:v>0.22535211267605634</c:v>
                </c:pt>
                <c:pt idx="3">
                  <c:v>0.15023474178403756</c:v>
                </c:pt>
                <c:pt idx="4">
                  <c:v>0.14486921529175051</c:v>
                </c:pt>
                <c:pt idx="5">
                  <c:v>1.1401743796109993E-2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3E-4479-AA22-52CE68154C85}"/>
            </c:ext>
          </c:extLst>
        </c:ser>
        <c:ser>
          <c:idx val="1"/>
          <c:order val="1"/>
          <c:tx>
            <c:strRef>
              <c:f>'External insight'!$C$3</c:f>
              <c:strCache>
                <c:ptCount val="1"/>
                <c:pt idx="0">
                  <c:v> Income (%)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'External insight'!$A$4:$A$10</c:f>
              <c:strCache>
                <c:ptCount val="6"/>
                <c:pt idx="0">
                  <c:v>Lagos</c:v>
                </c:pt>
                <c:pt idx="1">
                  <c:v>Osun</c:v>
                </c:pt>
                <c:pt idx="2">
                  <c:v>Ogun</c:v>
                </c:pt>
                <c:pt idx="3">
                  <c:v>Oyo</c:v>
                </c:pt>
                <c:pt idx="4">
                  <c:v>Ondo</c:v>
                </c:pt>
                <c:pt idx="5">
                  <c:v>Ekiti</c:v>
                </c:pt>
              </c:strCache>
            </c:strRef>
          </c:cat>
          <c:val>
            <c:numRef>
              <c:f>'External insight'!$C$4:$C$10</c:f>
              <c:numCache>
                <c:formatCode>0.00%</c:formatCode>
                <c:ptCount val="6"/>
                <c:pt idx="0">
                  <c:v>0.69336501479597568</c:v>
                </c:pt>
                <c:pt idx="1">
                  <c:v>3.5467870103090798E-2</c:v>
                </c:pt>
                <c:pt idx="2">
                  <c:v>0.14224552109048566</c:v>
                </c:pt>
                <c:pt idx="3">
                  <c:v>6.5362689176031788E-2</c:v>
                </c:pt>
                <c:pt idx="4">
                  <c:v>4.646459490783441E-2</c:v>
                </c:pt>
                <c:pt idx="5">
                  <c:v>1.7094309926581574E-2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3E-4479-AA22-52CE68154C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91100208"/>
        <c:axId val="891100688"/>
      </c:barChart>
      <c:catAx>
        <c:axId val="8911002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91100688"/>
        <c:crosses val="autoZero"/>
        <c:auto val="1"/>
        <c:lblAlgn val="ctr"/>
        <c:lblOffset val="100"/>
        <c:noMultiLvlLbl val="0"/>
      </c:catAx>
      <c:valAx>
        <c:axId val="891100688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8911002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>
      <a:outerShdw blurRad="50800" dist="38100" dir="2700000" algn="tl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[Cleaned data edited.xlsx]External insight!PivotTable11</c:name>
    <c:fmtId val="3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'External insight'!$B$21</c:f>
              <c:strCache>
                <c:ptCount val="1"/>
                <c:pt idx="0">
                  <c:v>Sales Volume (%)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'External insight'!$A$22:$A$28</c:f>
              <c:strCache>
                <c:ptCount val="6"/>
                <c:pt idx="0">
                  <c:v>Lagos</c:v>
                </c:pt>
                <c:pt idx="1">
                  <c:v>Osun</c:v>
                </c:pt>
                <c:pt idx="2">
                  <c:v>Ogun</c:v>
                </c:pt>
                <c:pt idx="3">
                  <c:v>Oyo</c:v>
                </c:pt>
                <c:pt idx="4">
                  <c:v>Ondo</c:v>
                </c:pt>
                <c:pt idx="5">
                  <c:v>Ekiti</c:v>
                </c:pt>
              </c:strCache>
            </c:strRef>
          </c:cat>
          <c:val>
            <c:numRef>
              <c:f>'External insight'!$B$22:$B$28</c:f>
              <c:numCache>
                <c:formatCode>0.00%</c:formatCode>
                <c:ptCount val="6"/>
                <c:pt idx="0">
                  <c:v>0.2421193829644534</c:v>
                </c:pt>
                <c:pt idx="1">
                  <c:v>0.22602280348759221</c:v>
                </c:pt>
                <c:pt idx="2">
                  <c:v>0.22535211267605634</c:v>
                </c:pt>
                <c:pt idx="3">
                  <c:v>0.15023474178403756</c:v>
                </c:pt>
                <c:pt idx="4">
                  <c:v>0.14486921529175051</c:v>
                </c:pt>
                <c:pt idx="5">
                  <c:v>1.1401743796109993E-2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7FD-4137-84F8-9DB1A8F764C3}"/>
            </c:ext>
          </c:extLst>
        </c:ser>
        <c:ser>
          <c:idx val="1"/>
          <c:order val="1"/>
          <c:tx>
            <c:strRef>
              <c:f>'External insight'!$C$21</c:f>
              <c:strCache>
                <c:ptCount val="1"/>
                <c:pt idx="0">
                  <c:v>Population (%)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'External insight'!$A$22:$A$28</c:f>
              <c:strCache>
                <c:ptCount val="6"/>
                <c:pt idx="0">
                  <c:v>Lagos</c:v>
                </c:pt>
                <c:pt idx="1">
                  <c:v>Osun</c:v>
                </c:pt>
                <c:pt idx="2">
                  <c:v>Ogun</c:v>
                </c:pt>
                <c:pt idx="3">
                  <c:v>Oyo</c:v>
                </c:pt>
                <c:pt idx="4">
                  <c:v>Ondo</c:v>
                </c:pt>
                <c:pt idx="5">
                  <c:v>Ekiti</c:v>
                </c:pt>
              </c:strCache>
            </c:strRef>
          </c:cat>
          <c:val>
            <c:numRef>
              <c:f>'External insight'!$C$22:$C$28</c:f>
              <c:numCache>
                <c:formatCode>0.00%</c:formatCode>
                <c:ptCount val="6"/>
                <c:pt idx="0">
                  <c:v>0.36821308584724904</c:v>
                </c:pt>
                <c:pt idx="1">
                  <c:v>9.8920695613864268E-2</c:v>
                </c:pt>
                <c:pt idx="2">
                  <c:v>0.15046294621098641</c:v>
                </c:pt>
                <c:pt idx="3">
                  <c:v>0.17538527025703951</c:v>
                </c:pt>
                <c:pt idx="4">
                  <c:v>0.12768861377223717</c:v>
                </c:pt>
                <c:pt idx="5">
                  <c:v>7.9329388298623599E-2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7FD-4137-84F8-9DB1A8F764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9264735"/>
        <c:axId val="109264255"/>
      </c:barChart>
      <c:catAx>
        <c:axId val="1092647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264255"/>
        <c:crosses val="autoZero"/>
        <c:auto val="1"/>
        <c:lblAlgn val="ctr"/>
        <c:lblOffset val="100"/>
        <c:noMultiLvlLbl val="0"/>
      </c:catAx>
      <c:valAx>
        <c:axId val="109264255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1092647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>
      <a:outerShdw blurRad="50800" dist="38100" dir="2700000" algn="tl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[Cleaned data edited.xlsx]Internal  insight!PivotTable9</c:name>
    <c:fmtId val="4"/>
  </c:pivotSource>
  <c:chart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'Internal  insight'!$B$115:$B$116</c:f>
              <c:strCache>
                <c:ptCount val="1"/>
                <c:pt idx="0">
                  <c:v>Ekiti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'Internal  insight'!$A$117:$A$128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'Internal  insight'!$B$117:$B$128</c:f>
              <c:numCache>
                <c:formatCode>General</c:formatCode>
                <c:ptCount val="12"/>
                <c:pt idx="0">
                  <c:v>6</c:v>
                </c:pt>
                <c:pt idx="1">
                  <c:v>5</c:v>
                </c:pt>
                <c:pt idx="2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823-4A21-AEDB-5ED904224513}"/>
            </c:ext>
          </c:extLst>
        </c:ser>
        <c:ser>
          <c:idx val="1"/>
          <c:order val="1"/>
          <c:tx>
            <c:strRef>
              <c:f>'Internal  insight'!$C$115:$C$116</c:f>
              <c:strCache>
                <c:ptCount val="1"/>
                <c:pt idx="0">
                  <c:v>Lagos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'Internal  insight'!$A$117:$A$128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'Internal  insight'!$C$117:$C$128</c:f>
              <c:numCache>
                <c:formatCode>General</c:formatCode>
                <c:ptCount val="12"/>
                <c:pt idx="0">
                  <c:v>16</c:v>
                </c:pt>
                <c:pt idx="1">
                  <c:v>23</c:v>
                </c:pt>
                <c:pt idx="2">
                  <c:v>31</c:v>
                </c:pt>
                <c:pt idx="3">
                  <c:v>31</c:v>
                </c:pt>
                <c:pt idx="4">
                  <c:v>33</c:v>
                </c:pt>
                <c:pt idx="5">
                  <c:v>23</c:v>
                </c:pt>
                <c:pt idx="6">
                  <c:v>35</c:v>
                </c:pt>
                <c:pt idx="7">
                  <c:v>37</c:v>
                </c:pt>
                <c:pt idx="8">
                  <c:v>40</c:v>
                </c:pt>
                <c:pt idx="9">
                  <c:v>39</c:v>
                </c:pt>
                <c:pt idx="10">
                  <c:v>40</c:v>
                </c:pt>
                <c:pt idx="11">
                  <c:v>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823-4A21-AEDB-5ED904224513}"/>
            </c:ext>
          </c:extLst>
        </c:ser>
        <c:ser>
          <c:idx val="2"/>
          <c:order val="2"/>
          <c:tx>
            <c:strRef>
              <c:f>'Internal  insight'!$D$115:$D$116</c:f>
              <c:strCache>
                <c:ptCount val="1"/>
                <c:pt idx="0">
                  <c:v>Ogun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'Internal  insight'!$A$117:$A$128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'Internal  insight'!$D$117:$D$128</c:f>
              <c:numCache>
                <c:formatCode>General</c:formatCode>
                <c:ptCount val="12"/>
                <c:pt idx="0">
                  <c:v>15</c:v>
                </c:pt>
                <c:pt idx="1">
                  <c:v>17</c:v>
                </c:pt>
                <c:pt idx="2">
                  <c:v>20</c:v>
                </c:pt>
                <c:pt idx="3">
                  <c:v>29</c:v>
                </c:pt>
                <c:pt idx="4">
                  <c:v>32</c:v>
                </c:pt>
                <c:pt idx="5">
                  <c:v>23</c:v>
                </c:pt>
                <c:pt idx="6">
                  <c:v>35</c:v>
                </c:pt>
                <c:pt idx="7">
                  <c:v>37</c:v>
                </c:pt>
                <c:pt idx="8">
                  <c:v>41</c:v>
                </c:pt>
                <c:pt idx="9">
                  <c:v>35</c:v>
                </c:pt>
                <c:pt idx="10">
                  <c:v>40</c:v>
                </c:pt>
                <c:pt idx="11">
                  <c:v>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823-4A21-AEDB-5ED904224513}"/>
            </c:ext>
          </c:extLst>
        </c:ser>
        <c:ser>
          <c:idx val="3"/>
          <c:order val="3"/>
          <c:tx>
            <c:strRef>
              <c:f>'Internal  insight'!$E$115:$E$116</c:f>
              <c:strCache>
                <c:ptCount val="1"/>
                <c:pt idx="0">
                  <c:v>Ondo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'Internal  insight'!$A$117:$A$128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'Internal  insight'!$E$117:$E$128</c:f>
              <c:numCache>
                <c:formatCode>General</c:formatCode>
                <c:ptCount val="12"/>
                <c:pt idx="0">
                  <c:v>6</c:v>
                </c:pt>
                <c:pt idx="1">
                  <c:v>9</c:v>
                </c:pt>
                <c:pt idx="2">
                  <c:v>13</c:v>
                </c:pt>
                <c:pt idx="3">
                  <c:v>15</c:v>
                </c:pt>
                <c:pt idx="4">
                  <c:v>16</c:v>
                </c:pt>
                <c:pt idx="5">
                  <c:v>11</c:v>
                </c:pt>
                <c:pt idx="6">
                  <c:v>17</c:v>
                </c:pt>
                <c:pt idx="7">
                  <c:v>19</c:v>
                </c:pt>
                <c:pt idx="8">
                  <c:v>20</c:v>
                </c:pt>
                <c:pt idx="9">
                  <c:v>38</c:v>
                </c:pt>
                <c:pt idx="10">
                  <c:v>40</c:v>
                </c:pt>
                <c:pt idx="11">
                  <c:v>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823-4A21-AEDB-5ED904224513}"/>
            </c:ext>
          </c:extLst>
        </c:ser>
        <c:ser>
          <c:idx val="4"/>
          <c:order val="4"/>
          <c:tx>
            <c:strRef>
              <c:f>'Internal  insight'!$F$115:$F$116</c:f>
              <c:strCache>
                <c:ptCount val="1"/>
                <c:pt idx="0">
                  <c:v>Osun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'Internal  insight'!$A$117:$A$128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'Internal  insight'!$F$117:$F$128</c:f>
              <c:numCache>
                <c:formatCode>General</c:formatCode>
                <c:ptCount val="12"/>
                <c:pt idx="0">
                  <c:v>17</c:v>
                </c:pt>
                <c:pt idx="1">
                  <c:v>16</c:v>
                </c:pt>
                <c:pt idx="2">
                  <c:v>18</c:v>
                </c:pt>
                <c:pt idx="3">
                  <c:v>29</c:v>
                </c:pt>
                <c:pt idx="4">
                  <c:v>32</c:v>
                </c:pt>
                <c:pt idx="5">
                  <c:v>22</c:v>
                </c:pt>
                <c:pt idx="6">
                  <c:v>35</c:v>
                </c:pt>
                <c:pt idx="7">
                  <c:v>38</c:v>
                </c:pt>
                <c:pt idx="8">
                  <c:v>40</c:v>
                </c:pt>
                <c:pt idx="9">
                  <c:v>38</c:v>
                </c:pt>
                <c:pt idx="10">
                  <c:v>40</c:v>
                </c:pt>
                <c:pt idx="11">
                  <c:v>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5823-4A21-AEDB-5ED904224513}"/>
            </c:ext>
          </c:extLst>
        </c:ser>
        <c:ser>
          <c:idx val="5"/>
          <c:order val="5"/>
          <c:tx>
            <c:strRef>
              <c:f>'Internal  insight'!$G$115:$G$116</c:f>
              <c:strCache>
                <c:ptCount val="1"/>
                <c:pt idx="0">
                  <c:v>Oyo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strRef>
              <c:f>'Internal  insight'!$A$117:$A$128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'Internal  insight'!$G$117:$G$128</c:f>
              <c:numCache>
                <c:formatCode>General</c:formatCode>
                <c:ptCount val="12"/>
                <c:pt idx="0">
                  <c:v>10</c:v>
                </c:pt>
                <c:pt idx="1">
                  <c:v>10</c:v>
                </c:pt>
                <c:pt idx="2">
                  <c:v>12</c:v>
                </c:pt>
                <c:pt idx="3">
                  <c:v>16</c:v>
                </c:pt>
                <c:pt idx="4">
                  <c:v>17</c:v>
                </c:pt>
                <c:pt idx="5">
                  <c:v>11</c:v>
                </c:pt>
                <c:pt idx="6">
                  <c:v>18</c:v>
                </c:pt>
                <c:pt idx="7">
                  <c:v>19</c:v>
                </c:pt>
                <c:pt idx="8">
                  <c:v>20</c:v>
                </c:pt>
                <c:pt idx="9">
                  <c:v>39</c:v>
                </c:pt>
                <c:pt idx="10">
                  <c:v>40</c:v>
                </c:pt>
                <c:pt idx="11">
                  <c:v>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5823-4A21-AEDB-5ED9042245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06232991"/>
        <c:axId val="1206244991"/>
      </c:lineChart>
      <c:catAx>
        <c:axId val="12062329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6244991"/>
        <c:crosses val="autoZero"/>
        <c:auto val="1"/>
        <c:lblAlgn val="ctr"/>
        <c:lblOffset val="100"/>
        <c:noMultiLvlLbl val="0"/>
      </c:catAx>
      <c:valAx>
        <c:axId val="120624499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062329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2A5DAE2-D370-4C4F-9322-D9B820B9E78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1423943-0223-4DDF-B7F2-CC632ABFD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730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5DAE2-D370-4C4F-9322-D9B820B9E78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81423943-0223-4DDF-B7F2-CC632ABFD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113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2A5DAE2-D370-4C4F-9322-D9B820B9E78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1423943-0223-4DDF-B7F2-CC632ABFD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70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5DAE2-D370-4C4F-9322-D9B820B9E78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23943-0223-4DDF-B7F2-CC632ABFD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681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5DAE2-D370-4C4F-9322-D9B820B9E78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23943-0223-4DDF-B7F2-CC632ABFD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535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5DAE2-D370-4C4F-9322-D9B820B9E78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23943-0223-4DDF-B7F2-CC632ABFD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12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5DAE2-D370-4C4F-9322-D9B820B9E78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23943-0223-4DDF-B7F2-CC632ABFD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788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2A5DAE2-D370-4C4F-9322-D9B820B9E78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1423943-0223-4DDF-B7F2-CC632ABFD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561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5DAE2-D370-4C4F-9322-D9B820B9E78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23943-0223-4DDF-B7F2-CC632ABFD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527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5DAE2-D370-4C4F-9322-D9B820B9E78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23943-0223-4DDF-B7F2-CC632ABFD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917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2A5DAE2-D370-4C4F-9322-D9B820B9E78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1423943-0223-4DDF-B7F2-CC632ABFD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572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E2A5DAE2-D370-4C4F-9322-D9B820B9E783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81423943-0223-4DDF-B7F2-CC632ABFD2A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9028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5B8BA-EB80-50CE-6EBD-252D6265B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223" y="3645503"/>
            <a:ext cx="10993549" cy="886155"/>
          </a:xfrm>
        </p:spPr>
        <p:txBody>
          <a:bodyPr>
            <a:normAutofit/>
          </a:bodyPr>
          <a:lstStyle/>
          <a:p>
            <a:pPr algn="ctr"/>
            <a:r>
              <a:rPr lang="en-US" sz="2800" b="1" cap="none" dirty="0">
                <a:solidFill>
                  <a:schemeClr val="bg1"/>
                </a:solidFill>
                <a:latin typeface="+mn-lt"/>
              </a:rPr>
              <a:t>SALES PERFORMANCE ANALYSIS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E799EF-6239-A450-D130-03ED95CF75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223" y="4776405"/>
            <a:ext cx="10993546" cy="590321"/>
          </a:xfrm>
        </p:spPr>
        <p:txBody>
          <a:bodyPr>
            <a:normAutofit/>
          </a:bodyPr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January – December 2020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F31906-31FF-A0AB-D34B-E0533EF496C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0385" y="437724"/>
            <a:ext cx="4451229" cy="2480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839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EC58-5E89-9202-58B1-8FC2DF431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A213D-49F3-CA20-875E-F8F720B7D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207808"/>
            <a:ext cx="11029615" cy="2539422"/>
          </a:xfrm>
        </p:spPr>
        <p:txBody>
          <a:bodyPr>
            <a:normAutofit/>
          </a:bodyPr>
          <a:lstStyle/>
          <a:p>
            <a:r>
              <a:rPr lang="en-US" sz="2400" dirty="0"/>
              <a:t>Confidently open a new branch in an existing location or a new location to increase sales by 24% in the next 6 months. </a:t>
            </a:r>
          </a:p>
        </p:txBody>
      </p:sp>
    </p:spTree>
    <p:extLst>
      <p:ext uri="{BB962C8B-B14F-4D97-AF65-F5344CB8AC3E}">
        <p14:creationId xmlns:p14="http://schemas.microsoft.com/office/powerpoint/2010/main" val="3367277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7930D-CA9D-8D76-A811-58282D993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C7101-CC74-68DB-A017-9930856FD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400" dirty="0"/>
              <a:t>Evaluate the performance of the branches 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Identify the branches with the highest sales volume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Examine the market trend and regional preference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Compare the sales performance across the branches</a:t>
            </a:r>
          </a:p>
        </p:txBody>
      </p:sp>
    </p:spTree>
    <p:extLst>
      <p:ext uri="{BB962C8B-B14F-4D97-AF65-F5344CB8AC3E}">
        <p14:creationId xmlns:p14="http://schemas.microsoft.com/office/powerpoint/2010/main" val="2878209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C1377-4FBE-FB47-D207-9B8739753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0ACA9-7D6A-0FC6-82AF-C602519E8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From January 1</a:t>
            </a:r>
            <a:r>
              <a:rPr lang="en-US" sz="2400" baseline="30000" dirty="0"/>
              <a:t>st</a:t>
            </a:r>
            <a:r>
              <a:rPr lang="en-US" sz="2400" dirty="0"/>
              <a:t> to December 31</a:t>
            </a:r>
            <a:r>
              <a:rPr lang="en-US" sz="2400" baseline="30000" dirty="0"/>
              <a:t>st</a:t>
            </a:r>
            <a:r>
              <a:rPr lang="en-US" sz="2400" dirty="0"/>
              <a:t> , 2020. </a:t>
            </a:r>
            <a:r>
              <a:rPr lang="en-US" sz="2800" b="1" dirty="0"/>
              <a:t>1491</a:t>
            </a:r>
            <a:r>
              <a:rPr lang="en-US" sz="2400" dirty="0"/>
              <a:t> cars were sold across the six branches with an average monthly sales volume of </a:t>
            </a:r>
            <a:r>
              <a:rPr lang="en-US" sz="2800" b="1" dirty="0"/>
              <a:t>124</a:t>
            </a:r>
            <a:r>
              <a:rPr lang="en-US" sz="24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15205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A744B-E591-EE42-94F1-18BA77CF4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91EFE-6598-E30C-38CE-498E8E1BB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                                                                                  </a:t>
            </a:r>
            <a:r>
              <a:rPr lang="en-US" dirty="0">
                <a:solidFill>
                  <a:schemeClr val="bg1">
                    <a:alpha val="23000"/>
                  </a:schemeClr>
                </a:solidFill>
              </a:rPr>
              <a:t>facts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1991D-BE45-F613-77E7-5BA9D979D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205318"/>
            <a:ext cx="4434561" cy="3837430"/>
          </a:xfr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Lagos recorded the highest sales volume in terms of demand with 361 car sold while Ekiti had the lowest with only 17 cars sold</a:t>
            </a:r>
            <a:endParaRPr lang="en-US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09DBAF-C63A-1C89-7EC2-F33D5A22A6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12" r="1039" b="3142"/>
          <a:stretch/>
        </p:blipFill>
        <p:spPr>
          <a:xfrm>
            <a:off x="6113929" y="2205318"/>
            <a:ext cx="5643282" cy="383743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93131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3B558-8661-9CB8-C441-0FFC118FA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CC264-F461-7181-C529-356F58EB3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Ekiti branch                                                                          </a:t>
            </a:r>
            <a:r>
              <a:rPr lang="en-US" dirty="0">
                <a:solidFill>
                  <a:schemeClr val="bg1">
                    <a:alpha val="23000"/>
                  </a:schemeClr>
                </a:solidFill>
              </a:rPr>
              <a:t>facts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0A17A-03C1-EE54-8369-7256CF388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148" y="2349304"/>
            <a:ext cx="4684424" cy="3837430"/>
          </a:xfr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Sales Volume: 17 (1.14%)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Age Group: 31-35 Years (11, 65%)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Gender: Male (15, 88%)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Best Model: Rogue (7, 41%)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Best Brand: Nissan (7, 41%)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A79A5D-F0A5-81C6-38A8-EEDBAEBB7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7978" y="2349304"/>
            <a:ext cx="5381874" cy="3693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908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1D379-23E4-B412-3C6C-5D36AFF8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BD91F-53B3-B3F5-D280-9A254C5DB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Lagos branch                                                                         </a:t>
            </a:r>
            <a:r>
              <a:rPr lang="en-US" dirty="0">
                <a:solidFill>
                  <a:schemeClr val="bg1">
                    <a:alpha val="23000"/>
                  </a:schemeClr>
                </a:solidFill>
              </a:rPr>
              <a:t>facts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49741-2CA9-A171-ECAC-81CB1744A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148" y="2349304"/>
            <a:ext cx="4684424" cy="3837430"/>
          </a:xfr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Sales Volume: 361 (24%)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Age Group: 31-35 Years (141, 39%)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Gender: Female (272, 75%)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Best Model: Fiesta (153, 42%)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Best Brand: Ford (265, 73%)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6D24AA-808C-D5FB-F46C-91350A766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3631" y="2349304"/>
            <a:ext cx="5167493" cy="348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624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6EECA-0F21-D501-E837-F4502254B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66A95-08A0-E4BF-F82B-08FB7FBDC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Ogun branch                                                                         </a:t>
            </a:r>
            <a:r>
              <a:rPr lang="en-US" dirty="0">
                <a:solidFill>
                  <a:schemeClr val="bg1">
                    <a:alpha val="23000"/>
                  </a:schemeClr>
                </a:solidFill>
              </a:rPr>
              <a:t>facts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F36D5-5700-B056-A990-C6FCA7B2A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148" y="2349304"/>
            <a:ext cx="5176794" cy="3837430"/>
          </a:xfr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Sales Volume: 336 (23%)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Age Group: 26-30 Years (132, 39%)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Gender: Male (271, 81%)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Best Model: Camry and Civic (115, 34%)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Best Brand: Toyota (129, 38%)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059528-92AD-446D-5C5C-9867E1B1E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377" y="2349304"/>
            <a:ext cx="5369475" cy="3655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008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EADB0-D070-42C4-EDD2-A825CD582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BA071-0DA4-165B-8542-91396060D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Ondo  branch                                                                       </a:t>
            </a:r>
            <a:r>
              <a:rPr lang="en-US" dirty="0">
                <a:solidFill>
                  <a:schemeClr val="bg1">
                    <a:alpha val="23000"/>
                  </a:schemeClr>
                </a:solidFill>
              </a:rPr>
              <a:t>facts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C3524-0E0E-E027-8BD9-4858D4B1F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148" y="2349304"/>
            <a:ext cx="4684424" cy="3837430"/>
          </a:xfr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Sales Volume: 216 (14%)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Age Group: 36-40 Years (79, 37%)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Gender: Male (147,68%)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Best Model: Rogue (143, 66%)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Best Brand: Nissan (144, 67%)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72F3A2-176C-1AE5-C7B2-1FF1841B4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5944" y="2349304"/>
            <a:ext cx="5024864" cy="338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429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C5F54-559B-9E07-0DED-6F55AE5D3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27FB2-5D32-43CE-88D6-7717E64E3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Osun branch                                                                       </a:t>
            </a:r>
            <a:r>
              <a:rPr lang="en-US" dirty="0">
                <a:solidFill>
                  <a:schemeClr val="bg1">
                    <a:alpha val="23000"/>
                  </a:schemeClr>
                </a:solidFill>
              </a:rPr>
              <a:t>facts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A79DA-EF57-5E7A-BDD0-49A31D6E6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148" y="2349304"/>
            <a:ext cx="4684424" cy="3837430"/>
          </a:xfr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Sales Volume: 216 (23%)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Age Group: 26-30 Years (145, 67%)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Gender: Female (279,129%)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Best Model: Corolla (143, 66%)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Best Brand: Toyota (150, 69%)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F98C4F-44C9-C160-6BC0-5788D8A68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9962" y="2531714"/>
            <a:ext cx="5100846" cy="347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070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BB4D3-3543-908F-4F60-78D2B78DD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70169-20F9-3E04-356C-6FCEBD1E4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Oyo branch                                                                       </a:t>
            </a:r>
            <a:r>
              <a:rPr lang="en-US" dirty="0">
                <a:solidFill>
                  <a:schemeClr val="bg1">
                    <a:alpha val="23000"/>
                  </a:schemeClr>
                </a:solidFill>
              </a:rPr>
              <a:t>facts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C528E-6477-B4D4-9824-E09DDA1CB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148" y="2349304"/>
            <a:ext cx="4684424" cy="3837430"/>
          </a:xfr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Sales Volume: 224 (15%)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Age Group: 26-30 Years (81, 36%)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Gender: Male (145, 65%)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Best Model: Sonata (114, 51%)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Best Brand: Hyundai (115, 52%)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EAAFDB-41FF-47AF-61A9-E6D913D61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559739"/>
            <a:ext cx="4942811" cy="341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5579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03EB6-5605-6451-20DF-613678735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E4C4E-44C7-8A46-CE92-B8B4C97A9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 analysis                                                                 </a:t>
            </a:r>
            <a:r>
              <a:rPr lang="en-US" dirty="0">
                <a:solidFill>
                  <a:schemeClr val="bg1">
                    <a:alpha val="23000"/>
                  </a:schemeClr>
                </a:solidFill>
              </a:rPr>
              <a:t>Insight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208D65-9772-5E24-24C8-DB0434ACA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9970" y="2228409"/>
            <a:ext cx="7365205" cy="30293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0021A27-22B9-24B2-4DD4-273F7B68BDDE}"/>
              </a:ext>
            </a:extLst>
          </p:cNvPr>
          <p:cNvSpPr txBox="1"/>
          <p:nvPr/>
        </p:nvSpPr>
        <p:spPr>
          <a:xfrm>
            <a:off x="1156447" y="5509513"/>
            <a:ext cx="96415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>
                <a:solidFill>
                  <a:schemeClr val="tx2"/>
                </a:solidFill>
              </a:rPr>
              <a:t>Approximately 99% of the total sales volume came from 5 branches  ( Lagos,</a:t>
            </a:r>
            <a:r>
              <a:rPr lang="en-US" sz="2400" baseline="0" dirty="0">
                <a:solidFill>
                  <a:schemeClr val="tx2"/>
                </a:solidFill>
              </a:rPr>
              <a:t> Osun, Ogun, Oyo and Ondo).</a:t>
            </a:r>
            <a:endParaRPr lang="en-US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0554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B6E13-765F-65FE-7185-D4ACC4336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43FE1-8CCD-D79B-2880-32E1F3E93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 analysis                                                                 </a:t>
            </a:r>
            <a:r>
              <a:rPr lang="en-US" dirty="0">
                <a:solidFill>
                  <a:schemeClr val="bg1">
                    <a:alpha val="23000"/>
                  </a:schemeClr>
                </a:solidFill>
              </a:rPr>
              <a:t>Insight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451477-1AFE-34B4-D8D4-964508D5CC38}"/>
              </a:ext>
            </a:extLst>
          </p:cNvPr>
          <p:cNvSpPr txBox="1"/>
          <p:nvPr/>
        </p:nvSpPr>
        <p:spPr>
          <a:xfrm>
            <a:off x="1156446" y="5617960"/>
            <a:ext cx="96415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>
                <a:solidFill>
                  <a:schemeClr val="tx2"/>
                </a:solidFill>
              </a:rPr>
              <a:t>Ekiti State has made no sales since April, and it performance over the past 3 month has been poor compared to other branches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291E78FC-DED3-D3E9-3624-92644C334D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55629194"/>
              </p:ext>
            </p:extLst>
          </p:nvPr>
        </p:nvGraphicFramePr>
        <p:xfrm>
          <a:off x="6702279" y="1900417"/>
          <a:ext cx="5190212" cy="32416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6DB68491-AB3B-A595-07E4-45AD48F40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005" y="2191871"/>
            <a:ext cx="5190212" cy="2646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8683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0C68E-D02D-153C-74B8-DD45A4176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62146-7EAD-3915-D43A-320A01230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 analysis                                                                 </a:t>
            </a:r>
            <a:r>
              <a:rPr lang="en-US" dirty="0">
                <a:solidFill>
                  <a:schemeClr val="bg1">
                    <a:alpha val="23000"/>
                  </a:schemeClr>
                </a:solidFill>
              </a:rPr>
              <a:t>Insight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1D26D2-175F-09F1-C3F5-5C2FFE425437}"/>
              </a:ext>
            </a:extLst>
          </p:cNvPr>
          <p:cNvSpPr txBox="1"/>
          <p:nvPr/>
        </p:nvSpPr>
        <p:spPr>
          <a:xfrm>
            <a:off x="1156446" y="5617960"/>
            <a:ext cx="96415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>
                <a:solidFill>
                  <a:schemeClr val="tx2"/>
                </a:solidFill>
              </a:rPr>
              <a:t>Lagos branch has the highest income level and population while Ekiti branch has the lowest income level and population.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7445C21-B792-CBAF-C364-940AB6D801E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7310286"/>
              </p:ext>
            </p:extLst>
          </p:nvPr>
        </p:nvGraphicFramePr>
        <p:xfrm>
          <a:off x="1323695" y="2600157"/>
          <a:ext cx="4485434" cy="25418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A643806F-5AE4-93D9-B4E2-F64CE1E13E0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43329313"/>
              </p:ext>
            </p:extLst>
          </p:nvPr>
        </p:nvGraphicFramePr>
        <p:xfrm>
          <a:off x="6736417" y="2600158"/>
          <a:ext cx="4131888" cy="25418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6067292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26AD1-27E3-DA1C-EAC4-79EB902AC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7A23C-59EB-8D58-165A-8A2FC388C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brand analysis                                                                 </a:t>
            </a:r>
            <a:r>
              <a:rPr lang="en-US" dirty="0">
                <a:solidFill>
                  <a:schemeClr val="bg1">
                    <a:alpha val="23000"/>
                  </a:schemeClr>
                </a:solidFill>
              </a:rPr>
              <a:t>Insight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573E07-DF0B-C72C-CD90-BE3A11803BFC}"/>
              </a:ext>
            </a:extLst>
          </p:cNvPr>
          <p:cNvSpPr txBox="1"/>
          <p:nvPr/>
        </p:nvSpPr>
        <p:spPr>
          <a:xfrm>
            <a:off x="1156446" y="5617960"/>
            <a:ext cx="96415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chemeClr val="tx2"/>
                </a:solidFill>
              </a:rPr>
              <a:t>Approximately 89% of the total sales volume came from 5 brands ( Ford,</a:t>
            </a:r>
            <a:r>
              <a:rPr lang="en-US" sz="2400" baseline="0">
                <a:solidFill>
                  <a:schemeClr val="tx2"/>
                </a:solidFill>
              </a:rPr>
              <a:t> Toyota, Honda, Nissan and Hyundai.</a:t>
            </a:r>
            <a:endParaRPr lang="en-US" sz="2400">
              <a:solidFill>
                <a:schemeClr val="tx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7163CB-23F4-4924-3817-4EDA8EB72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298" y="2013315"/>
            <a:ext cx="5765404" cy="3307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234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43FE2-361F-91D0-57C7-0332C35DC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17800-732D-7C6D-FFDC-352BB21DB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brand analysis                                                                 </a:t>
            </a:r>
            <a:r>
              <a:rPr lang="en-US" dirty="0">
                <a:solidFill>
                  <a:schemeClr val="bg1">
                    <a:alpha val="23000"/>
                  </a:schemeClr>
                </a:solidFill>
              </a:rPr>
              <a:t>Insight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C23110-612E-232A-847B-AE3F87B08A1D}"/>
              </a:ext>
            </a:extLst>
          </p:cNvPr>
          <p:cNvSpPr txBox="1"/>
          <p:nvPr/>
        </p:nvSpPr>
        <p:spPr>
          <a:xfrm>
            <a:off x="1156446" y="5617960"/>
            <a:ext cx="96415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>
                <a:solidFill>
                  <a:schemeClr val="tx2"/>
                </a:solidFill>
              </a:rPr>
              <a:t>The top 5 brands offer at least 3 models in all branches while the bottom 4 brands offer only 1 model in all branches.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4CA593-1593-0D5B-8CC7-D2BDAA384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19" y="2177713"/>
            <a:ext cx="5434833" cy="3141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980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74930-0AD8-BFA5-BEF5-78909D73E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5ED78-4709-D024-2EDA-392B291B3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 analysis                                                                 </a:t>
            </a:r>
            <a:r>
              <a:rPr lang="en-US" dirty="0">
                <a:solidFill>
                  <a:schemeClr val="bg1">
                    <a:alpha val="23000"/>
                  </a:schemeClr>
                </a:solidFill>
              </a:rPr>
              <a:t>Insight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9172E6-05D8-C72C-8BA0-686A3A03F53C}"/>
              </a:ext>
            </a:extLst>
          </p:cNvPr>
          <p:cNvSpPr txBox="1"/>
          <p:nvPr/>
        </p:nvSpPr>
        <p:spPr>
          <a:xfrm>
            <a:off x="1476935" y="2699793"/>
            <a:ext cx="9641541" cy="1458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2400" dirty="0">
                <a:solidFill>
                  <a:schemeClr val="tx2"/>
                </a:solidFill>
              </a:rPr>
              <a:t>Average age does not have significant effect on the sales volume per branch.</a:t>
            </a:r>
          </a:p>
          <a:p>
            <a:pPr algn="ctr">
              <a:lnSpc>
                <a:spcPct val="200000"/>
              </a:lnSpc>
            </a:pPr>
            <a:r>
              <a:rPr lang="en-US" sz="2400" dirty="0">
                <a:solidFill>
                  <a:schemeClr val="tx2"/>
                </a:solidFill>
              </a:rPr>
              <a:t>The most active age group across all branches is 26 – 40 years.</a:t>
            </a:r>
          </a:p>
        </p:txBody>
      </p:sp>
    </p:spTree>
    <p:extLst>
      <p:ext uri="{BB962C8B-B14F-4D97-AF65-F5344CB8AC3E}">
        <p14:creationId xmlns:p14="http://schemas.microsoft.com/office/powerpoint/2010/main" val="9025336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C837E-2F0E-36B1-BB20-BC2600D2B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B48E6-7057-AE81-B7DD-617DEE189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Gender analysis                                                                 </a:t>
            </a:r>
            <a:r>
              <a:rPr lang="en-US" dirty="0">
                <a:solidFill>
                  <a:schemeClr val="bg1">
                    <a:alpha val="23000"/>
                  </a:schemeClr>
                </a:solidFill>
              </a:rPr>
              <a:t>Insight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384365-4A0A-CB2C-2AD2-631A47B2EE24}"/>
              </a:ext>
            </a:extLst>
          </p:cNvPr>
          <p:cNvSpPr txBox="1"/>
          <p:nvPr/>
        </p:nvSpPr>
        <p:spPr>
          <a:xfrm>
            <a:off x="1476935" y="2699793"/>
            <a:ext cx="9641541" cy="1458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2400" dirty="0">
                <a:solidFill>
                  <a:schemeClr val="tx2"/>
                </a:solidFill>
              </a:rPr>
              <a:t>There is no general effect by gender on sales volume. Gender effect is branch specific. </a:t>
            </a:r>
          </a:p>
        </p:txBody>
      </p:sp>
    </p:spTree>
    <p:extLst>
      <p:ext uri="{BB962C8B-B14F-4D97-AF65-F5344CB8AC3E}">
        <p14:creationId xmlns:p14="http://schemas.microsoft.com/office/powerpoint/2010/main" val="13960875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68DD0-DA48-BEB6-CED3-02F31436A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69C96-7292-F2C1-A09E-3837EB5B1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trend analysis                                                                 </a:t>
            </a:r>
            <a:r>
              <a:rPr lang="en-US" dirty="0">
                <a:solidFill>
                  <a:schemeClr val="bg1">
                    <a:alpha val="23000"/>
                  </a:schemeClr>
                </a:solidFill>
              </a:rPr>
              <a:t>Insight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494DE7-B57B-DE11-746F-F37E3F2F1397}"/>
              </a:ext>
            </a:extLst>
          </p:cNvPr>
          <p:cNvSpPr txBox="1"/>
          <p:nvPr/>
        </p:nvSpPr>
        <p:spPr>
          <a:xfrm>
            <a:off x="1277471" y="5553635"/>
            <a:ext cx="102175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The top 5 branches all experienced the same trend,  rise in sales volume in July, August, and September and decrease in sales volume in June and December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329F9866-CA8B-A0CC-DB77-EEEAA3A8BBC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6866914"/>
              </p:ext>
            </p:extLst>
          </p:nvPr>
        </p:nvGraphicFramePr>
        <p:xfrm>
          <a:off x="3281082" y="1886678"/>
          <a:ext cx="5957047" cy="33752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492984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C0745-9344-677C-7064-F32669FD8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30D63-C696-3F35-ADAA-07B3B6353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                                                                 </a:t>
            </a:r>
            <a:endParaRPr lang="en-US" dirty="0">
              <a:solidFill>
                <a:schemeClr val="bg1">
                  <a:alpha val="23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D0682F-0C4A-7B15-9F9B-377549FA8C08}"/>
              </a:ext>
            </a:extLst>
          </p:cNvPr>
          <p:cNvSpPr txBox="1"/>
          <p:nvPr/>
        </p:nvSpPr>
        <p:spPr>
          <a:xfrm>
            <a:off x="787213" y="2122113"/>
            <a:ext cx="10217523" cy="3905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2"/>
                </a:solidFill>
              </a:rPr>
              <a:t>Access the feasibility of closing Ekiti Branch and relocating the resources to a higher performing branch such as Lagos Branch.</a:t>
            </a:r>
          </a:p>
          <a:p>
            <a:pPr marL="342900" indent="-3429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2"/>
                </a:solidFill>
              </a:rPr>
              <a:t>Consider opening a new branch in a high potential location like Rivers state or Abuja, which has higher income level and population.</a:t>
            </a:r>
          </a:p>
          <a:p>
            <a:pPr marL="342900" indent="-3429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2"/>
                </a:solidFill>
              </a:rPr>
              <a:t>Ensure that each branch offers at least 3 car models per brand.</a:t>
            </a:r>
          </a:p>
          <a:p>
            <a:pPr marL="342900" indent="-3429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2"/>
                </a:solidFill>
              </a:rPr>
              <a:t>Maintain consistent availability of top performing brand across all branches.</a:t>
            </a:r>
          </a:p>
          <a:p>
            <a:pPr marL="342900" indent="-3429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§"/>
            </a:pPr>
            <a:endParaRPr lang="en-US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131465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customize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0B3041"/>
      </a:accent1>
      <a:accent2>
        <a:srgbClr val="A62E21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197</TotalTime>
  <Words>675</Words>
  <Application>Microsoft Office PowerPoint</Application>
  <PresentationFormat>Widescreen</PresentationFormat>
  <Paragraphs>71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Gill Sans MT</vt:lpstr>
      <vt:lpstr>Wingdings</vt:lpstr>
      <vt:lpstr>Wingdings 2</vt:lpstr>
      <vt:lpstr>Dividend</vt:lpstr>
      <vt:lpstr>SALES PERFORMANCE ANALYSIS REPORT</vt:lpstr>
      <vt:lpstr>Action</vt:lpstr>
      <vt:lpstr>Objectives</vt:lpstr>
      <vt:lpstr>Data overview</vt:lpstr>
      <vt:lpstr>Summary                                                                                   facts</vt:lpstr>
      <vt:lpstr>Ekiti branch                                                                          facts</vt:lpstr>
      <vt:lpstr>Lagos branch                                                                         facts</vt:lpstr>
      <vt:lpstr>Ogun branch                                                                         facts</vt:lpstr>
      <vt:lpstr>Ondo  branch                                                                       facts</vt:lpstr>
      <vt:lpstr>Osun branch                                                                       facts</vt:lpstr>
      <vt:lpstr>Oyo branch                                                                       facts</vt:lpstr>
      <vt:lpstr>branch analysis                                                                 Insight</vt:lpstr>
      <vt:lpstr>branch analysis                                                                 Insight</vt:lpstr>
      <vt:lpstr>branch analysis                                                                 Insight</vt:lpstr>
      <vt:lpstr>brand analysis                                                                 Insight</vt:lpstr>
      <vt:lpstr>brand analysis                                                                 Insight</vt:lpstr>
      <vt:lpstr>Age analysis                                                                 Insight</vt:lpstr>
      <vt:lpstr>Gender analysis                                                                 Insight</vt:lpstr>
      <vt:lpstr>trend analysis                                                                 Insight</vt:lpstr>
      <vt:lpstr>recommendation                                                            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Adenike</dc:creator>
  <cp:lastModifiedBy>Adenike</cp:lastModifiedBy>
  <cp:revision>2</cp:revision>
  <dcterms:created xsi:type="dcterms:W3CDTF">2025-04-15T07:52:19Z</dcterms:created>
  <dcterms:modified xsi:type="dcterms:W3CDTF">2025-04-15T11:09:46Z</dcterms:modified>
</cp:coreProperties>
</file>